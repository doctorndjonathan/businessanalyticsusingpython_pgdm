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VoNAWcWxCJYUhl/H6hgNMHw4X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regular.fntdata"/><Relationship Id="rId25" Type="http://schemas.openxmlformats.org/officeDocument/2006/relationships/slide" Target="slides/slide21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9f4ddf3d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f9f4ddf3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f4ddf3d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9f4ddf3d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9f4ddf3d6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9f4ddf3d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9f96a839f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9f96a839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9f96a839f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9f96a839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9f4ddf3d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9f4ddf3d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f4ddf3d6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9f4ddf3d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9f4ddf3d6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9f4ddf3d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9f4ddf3d6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9f4ddf3d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f4ddf3d6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9f4ddf3d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f4ddf3d6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9f4ddf3d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f4ddf3d6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9f4ddf3d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f4ddf3d6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9f4ddf3d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9f4ddf3d6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9f4ddf3d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f4ddf3d6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9f4ddf3d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f4ddf3d6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9f4ddf3d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f7e5f69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9f7e5f69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9f7e5f69a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9f7e5f6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f7e5f69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9f7e5f6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084417" y="21771"/>
            <a:ext cx="609599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 rotWithShape="1">
          <a:blip r:embed="rId4">
            <a:alphaModFix/>
          </a:blip>
          <a:srcRect b="0" l="0" r="28963" t="0"/>
          <a:stretch/>
        </p:blipFill>
        <p:spPr>
          <a:xfrm>
            <a:off x="1021760" y="3560411"/>
            <a:ext cx="1657623" cy="1164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"/>
          <p:cNvPicPr preferRelativeResize="0"/>
          <p:nvPr/>
        </p:nvPicPr>
        <p:blipFill rotWithShape="1">
          <a:blip r:embed="rId5">
            <a:alphaModFix/>
          </a:blip>
          <a:srcRect b="0" l="2593" r="0" t="0"/>
          <a:stretch/>
        </p:blipFill>
        <p:spPr>
          <a:xfrm rot="5400000">
            <a:off x="140509" y="1120230"/>
            <a:ext cx="3505205" cy="1264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854302" y="5186815"/>
            <a:ext cx="2077619" cy="126474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ctrTitle"/>
          </p:nvPr>
        </p:nvSpPr>
        <p:spPr>
          <a:xfrm>
            <a:off x="3287486" y="1122363"/>
            <a:ext cx="845256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3287486" y="3602038"/>
            <a:ext cx="845256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>
            <a:off x="0" y="0"/>
            <a:ext cx="130629" cy="345077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0" y="3429000"/>
            <a:ext cx="130629" cy="345077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a7862fc4_33_0)">
  <p:cSld name="Generated (g3f2a7862fc4_33_0)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594464" y="60296"/>
            <a:ext cx="10001250" cy="105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594464" y="1250731"/>
            <a:ext cx="10648950" cy="492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11669486" y="6492875"/>
            <a:ext cx="522514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594464" y="60296"/>
            <a:ext cx="10001250" cy="105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594464" y="1250731"/>
            <a:ext cx="10648950" cy="492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3"/>
          <p:cNvPicPr preferRelativeResize="0"/>
          <p:nvPr/>
        </p:nvPicPr>
        <p:blipFill rotWithShape="1">
          <a:blip r:embed="rId1">
            <a:alphaModFix/>
          </a:blip>
          <a:srcRect b="0" l="0" r="28963" t="0"/>
          <a:stretch/>
        </p:blipFill>
        <p:spPr>
          <a:xfrm>
            <a:off x="10787744" y="-1"/>
            <a:ext cx="1273628" cy="8949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3"/>
          <p:cNvCxnSpPr/>
          <p:nvPr/>
        </p:nvCxnSpPr>
        <p:spPr>
          <a:xfrm>
            <a:off x="2205035" y="865039"/>
            <a:ext cx="2707781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" name="Google Shape;11;p3"/>
          <p:cNvSpPr/>
          <p:nvPr/>
        </p:nvSpPr>
        <p:spPr>
          <a:xfrm>
            <a:off x="0" y="0"/>
            <a:ext cx="130629" cy="345077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"/>
          <p:cNvSpPr/>
          <p:nvPr/>
        </p:nvSpPr>
        <p:spPr>
          <a:xfrm>
            <a:off x="0" y="3429000"/>
            <a:ext cx="130629" cy="345077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13;p3"/>
          <p:cNvCxnSpPr/>
          <p:nvPr/>
        </p:nvCxnSpPr>
        <p:spPr>
          <a:xfrm>
            <a:off x="721812" y="865039"/>
            <a:ext cx="1483219" cy="0"/>
          </a:xfrm>
          <a:prstGeom prst="straightConnector1">
            <a:avLst/>
          </a:prstGeom>
          <a:noFill/>
          <a:ln cap="flat" cmpd="sng" w="38100">
            <a:solidFill>
              <a:srgbClr val="0C0C0C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>
            <p:ph type="ctrTitle"/>
          </p:nvPr>
        </p:nvSpPr>
        <p:spPr>
          <a:xfrm>
            <a:off x="3287486" y="1122363"/>
            <a:ext cx="845256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Module 5 &amp; 6: Introduction to ML - Supervised and Unsupervised Learning</a:t>
            </a:r>
            <a:endParaRPr/>
          </a:p>
        </p:txBody>
      </p:sp>
      <p:sp>
        <p:nvSpPr>
          <p:cNvPr id="38" name="Google Shape;38;p1"/>
          <p:cNvSpPr txBox="1"/>
          <p:nvPr>
            <p:ph idx="1" type="subTitle"/>
          </p:nvPr>
        </p:nvSpPr>
        <p:spPr>
          <a:xfrm>
            <a:off x="3287486" y="3713018"/>
            <a:ext cx="8452569" cy="1336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Nikhil D Jonathan, July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/>
        </p:nvSpPr>
        <p:spPr>
          <a:xfrm>
            <a:off x="405950" y="228250"/>
            <a:ext cx="11613600" cy="7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Agenda :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AutoNum type="arabicPeriod"/>
            </a:pPr>
            <a:r>
              <a:rPr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framework – Supervised/Unsupervised, train/test split, overfitting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AutoNum type="arabicPeriod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Linear Regression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AutoNum type="arabicPeriod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AutoNum type="arabicPeriod"/>
            </a:pPr>
            <a:r>
              <a:rPr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Trees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most interpretable ML Model – Build and Read One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AutoNum type="arabicPeriod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K-Means Clustering Algorithm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AutoNum type="arabicPeriod"/>
            </a:pPr>
            <a:r>
              <a:rPr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Evaluation Evaluation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9f4ddf3d6_0_0"/>
          <p:cNvSpPr txBox="1"/>
          <p:nvPr/>
        </p:nvSpPr>
        <p:spPr>
          <a:xfrm>
            <a:off x="1961425" y="1196800"/>
            <a:ext cx="932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e Allegory World of Plato's Cave | FYI" id="49" name="Google Shape;49;g3f9f4ddf3d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025" y="1042025"/>
            <a:ext cx="10060575" cy="568622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3f9f4ddf3d6_0_0"/>
          <p:cNvSpPr txBox="1"/>
          <p:nvPr/>
        </p:nvSpPr>
        <p:spPr>
          <a:xfrm>
            <a:off x="2726325" y="174100"/>
            <a:ext cx="49488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Plato’s Allegory of the Cave</a:t>
            </a:r>
            <a:endParaRPr b="1" sz="2800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3f9f4ddf3d6_0_7"/>
          <p:cNvPicPr preferRelativeResize="0"/>
          <p:nvPr/>
        </p:nvPicPr>
        <p:blipFill rotWithShape="1">
          <a:blip r:embed="rId3">
            <a:alphaModFix/>
          </a:blip>
          <a:srcRect b="16426" l="8232" r="0" t="15020"/>
          <a:stretch/>
        </p:blipFill>
        <p:spPr>
          <a:xfrm>
            <a:off x="1781050" y="1078600"/>
            <a:ext cx="9020776" cy="50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f9f4ddf3d6_0_7"/>
          <p:cNvSpPr txBox="1"/>
          <p:nvPr/>
        </p:nvSpPr>
        <p:spPr>
          <a:xfrm>
            <a:off x="2041475" y="151825"/>
            <a:ext cx="787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Positioning of the Machine Learning in AI Ecosystem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g3f9f4ddf3d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375" y="884000"/>
            <a:ext cx="9657300" cy="569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f9f4ddf3d6_0_15"/>
          <p:cNvSpPr txBox="1"/>
          <p:nvPr/>
        </p:nvSpPr>
        <p:spPr>
          <a:xfrm>
            <a:off x="2373600" y="184975"/>
            <a:ext cx="772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Categories/Types of Machine Learning Algorithms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g3f9f96a839f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225" y="126450"/>
            <a:ext cx="7533000" cy="635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g3f9f96a839f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0175" y="938175"/>
            <a:ext cx="5424075" cy="54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3f9f4ddf3d6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0" y="1229675"/>
            <a:ext cx="10522300" cy="52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9f4ddf3d6_0_46"/>
          <p:cNvSpPr txBox="1"/>
          <p:nvPr/>
        </p:nvSpPr>
        <p:spPr>
          <a:xfrm>
            <a:off x="1039650" y="2133900"/>
            <a:ext cx="10398300" cy="21549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SUPERVISED</a:t>
            </a:r>
            <a:r>
              <a:rPr b="1" lang="en-US" sz="6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MACHINE LEARNING</a:t>
            </a:r>
            <a:endParaRPr b="1"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9f4ddf3d6_0_22"/>
          <p:cNvSpPr txBox="1"/>
          <p:nvPr/>
        </p:nvSpPr>
        <p:spPr>
          <a:xfrm>
            <a:off x="4308650" y="191150"/>
            <a:ext cx="405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Regression Model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g3f9f4ddf3d6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125" y="1523425"/>
            <a:ext cx="8318724" cy="445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f9f4ddf3d6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900" y="1301025"/>
            <a:ext cx="9525000" cy="46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9f4ddf3d6_0_32"/>
          <p:cNvSpPr txBox="1"/>
          <p:nvPr/>
        </p:nvSpPr>
        <p:spPr>
          <a:xfrm>
            <a:off x="1651300" y="114775"/>
            <a:ext cx="891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 between a linear and logistic regression model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9f4ddf3d6_0_27"/>
          <p:cNvSpPr txBox="1"/>
          <p:nvPr/>
        </p:nvSpPr>
        <p:spPr>
          <a:xfrm>
            <a:off x="2476075" y="161575"/>
            <a:ext cx="696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Basic Idea of the Classification models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g3f9f4ddf3d6_0_27"/>
          <p:cNvPicPr preferRelativeResize="0"/>
          <p:nvPr/>
        </p:nvPicPr>
        <p:blipFill rotWithShape="1">
          <a:blip r:embed="rId3">
            <a:alphaModFix/>
          </a:blip>
          <a:srcRect b="1830" l="0" r="0" t="-1830"/>
          <a:stretch/>
        </p:blipFill>
        <p:spPr>
          <a:xfrm>
            <a:off x="1410350" y="1256119"/>
            <a:ext cx="9100750" cy="4936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f9f4ddf3d6_0_37"/>
          <p:cNvPicPr preferRelativeResize="0"/>
          <p:nvPr/>
        </p:nvPicPr>
        <p:blipFill rotWithShape="1">
          <a:blip r:embed="rId3">
            <a:alphaModFix/>
          </a:blip>
          <a:srcRect b="0" l="0" r="-3939" t="0"/>
          <a:stretch/>
        </p:blipFill>
        <p:spPr>
          <a:xfrm>
            <a:off x="1190375" y="1171275"/>
            <a:ext cx="5761975" cy="53587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g3f9f4ddf3d6_0_37"/>
          <p:cNvSpPr txBox="1"/>
          <p:nvPr/>
        </p:nvSpPr>
        <p:spPr>
          <a:xfrm>
            <a:off x="7137725" y="2116575"/>
            <a:ext cx="4910100" cy="2185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the Z is the regression equation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</a:t>
            </a:r>
            <a:r>
              <a:rPr b="1" lang="en-US" sz="4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 = y = Mx + C</a:t>
            </a:r>
            <a:endParaRPr b="1" sz="4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f9f4ddf3d6_0_37"/>
          <p:cNvSpPr txBox="1"/>
          <p:nvPr/>
        </p:nvSpPr>
        <p:spPr>
          <a:xfrm>
            <a:off x="2038025" y="124575"/>
            <a:ext cx="8746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Mathematical foundation for the logistic Regression Model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f9f4ddf3d6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00" y="187125"/>
            <a:ext cx="4855895" cy="64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f9f4ddf3d6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0395" y="1097675"/>
            <a:ext cx="6047280" cy="26031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f9f4ddf3d6_0_43"/>
          <p:cNvSpPr txBox="1"/>
          <p:nvPr/>
        </p:nvSpPr>
        <p:spPr>
          <a:xfrm>
            <a:off x="6044150" y="4470525"/>
            <a:ext cx="594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F1 Score for Imbalanced Datasets only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f4ddf3d6_0_53"/>
          <p:cNvSpPr txBox="1"/>
          <p:nvPr/>
        </p:nvSpPr>
        <p:spPr>
          <a:xfrm>
            <a:off x="832625" y="1767750"/>
            <a:ext cx="11181600" cy="3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tree-like structure where each </a:t>
            </a:r>
            <a:r>
              <a:rPr b="1" lang="en-US" sz="2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node</a:t>
            </a:r>
            <a:r>
              <a:rPr lang="en-US" sz="2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tests on attribute, each branch corresponds to attribute value and each </a:t>
            </a:r>
            <a:r>
              <a:rPr b="1" lang="en-US" sz="2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leaf node</a:t>
            </a:r>
            <a:r>
              <a:rPr lang="en-US" sz="2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represents the final decision or prediction.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Entropy measures the uncertainty. 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Gain (Higher) and Gini Index (Lower) are used for attribute selection.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20" name="Google Shape;120;g3f9f4ddf3d6_0_53"/>
          <p:cNvSpPr txBox="1"/>
          <p:nvPr/>
        </p:nvSpPr>
        <p:spPr>
          <a:xfrm>
            <a:off x="2067925" y="856375"/>
            <a:ext cx="9305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Tree - Used for 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Regression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9f4ddf3d6_0_64"/>
          <p:cNvSpPr txBox="1"/>
          <p:nvPr/>
        </p:nvSpPr>
        <p:spPr>
          <a:xfrm>
            <a:off x="1363100" y="2070000"/>
            <a:ext cx="8904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https://www.geeksforgeeks.org/machine-learning/decision-tree-introduction-example/</a:t>
            </a:r>
            <a:endParaRPr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3f9f4ddf3d6_0_59"/>
          <p:cNvPicPr preferRelativeResize="0"/>
          <p:nvPr/>
        </p:nvPicPr>
        <p:blipFill rotWithShape="1">
          <a:blip r:embed="rId3">
            <a:alphaModFix/>
          </a:blip>
          <a:srcRect b="0" l="3928" r="3428" t="6094"/>
          <a:stretch/>
        </p:blipFill>
        <p:spPr>
          <a:xfrm>
            <a:off x="662250" y="1302275"/>
            <a:ext cx="10712949" cy="538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f9f4ddf3d6_0_59"/>
          <p:cNvSpPr txBox="1"/>
          <p:nvPr/>
        </p:nvSpPr>
        <p:spPr>
          <a:xfrm>
            <a:off x="534450" y="255575"/>
            <a:ext cx="10000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Tree Classifier for Corn_Yield_Category based on the Oats supply , Milk supply and Climatic Conditions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9f4ddf3d6_0_70"/>
          <p:cNvSpPr txBox="1"/>
          <p:nvPr/>
        </p:nvSpPr>
        <p:spPr>
          <a:xfrm>
            <a:off x="2229725" y="141950"/>
            <a:ext cx="762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Unsupervised Learning - Clustering Algorithms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g3f9f4ddf3d6_0_70"/>
          <p:cNvPicPr preferRelativeResize="0"/>
          <p:nvPr/>
        </p:nvPicPr>
        <p:blipFill rotWithShape="1">
          <a:blip r:embed="rId3">
            <a:alphaModFix/>
          </a:blip>
          <a:srcRect b="0" l="0" r="0" t="13734"/>
          <a:stretch/>
        </p:blipFill>
        <p:spPr>
          <a:xfrm>
            <a:off x="2157050" y="1262575"/>
            <a:ext cx="8169999" cy="49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f9f7e5f69a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000" y="152400"/>
            <a:ext cx="98298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f9f7e5f69a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25" y="1272150"/>
            <a:ext cx="5890550" cy="49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f9f7e5f69a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8850" y="1195700"/>
            <a:ext cx="5463149" cy="49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f9f7e5f69a_0_6"/>
          <p:cNvSpPr txBox="1"/>
          <p:nvPr/>
        </p:nvSpPr>
        <p:spPr>
          <a:xfrm>
            <a:off x="3861650" y="96875"/>
            <a:ext cx="6077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Vs Actual Experiments</a:t>
            </a:r>
            <a:endParaRPr b="1"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f9f7e5f69a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875" y="151450"/>
            <a:ext cx="8192675" cy="65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2026-07-23T00:50:53Z</dcterms:created>
  <dc:creator>Nikhil D Jonathan</dc:creator>
</cp:coreProperties>
</file>