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3" r:id="rId1"/>
  </p:sldMasterIdLst>
  <p:notesMasterIdLst>
    <p:notesMasterId r:id="rId33"/>
  </p:notesMasterIdLst>
  <p:sldIdLst>
    <p:sldId id="256" r:id="rId2"/>
    <p:sldId id="264" r:id="rId3"/>
    <p:sldId id="272" r:id="rId4"/>
    <p:sldId id="261" r:id="rId5"/>
    <p:sldId id="262" r:id="rId6"/>
    <p:sldId id="263" r:id="rId7"/>
    <p:sldId id="258" r:id="rId8"/>
    <p:sldId id="257" r:id="rId9"/>
    <p:sldId id="265" r:id="rId10"/>
    <p:sldId id="268" r:id="rId11"/>
    <p:sldId id="266" r:id="rId12"/>
    <p:sldId id="260" r:id="rId13"/>
    <p:sldId id="267" r:id="rId14"/>
    <p:sldId id="269" r:id="rId15"/>
    <p:sldId id="271" r:id="rId16"/>
    <p:sldId id="273" r:id="rId17"/>
    <p:sldId id="274" r:id="rId18"/>
    <p:sldId id="286" r:id="rId19"/>
    <p:sldId id="275" r:id="rId20"/>
    <p:sldId id="299" r:id="rId21"/>
    <p:sldId id="276" r:id="rId22"/>
    <p:sldId id="281" r:id="rId23"/>
    <p:sldId id="282" r:id="rId24"/>
    <p:sldId id="277" r:id="rId25"/>
    <p:sldId id="278" r:id="rId26"/>
    <p:sldId id="279" r:id="rId27"/>
    <p:sldId id="280" r:id="rId28"/>
    <p:sldId id="283" r:id="rId29"/>
    <p:sldId id="285" r:id="rId30"/>
    <p:sldId id="284" r:id="rId31"/>
    <p:sldId id="293" r:id="rId3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4C1A8A3-306A-4EB7-A6B1-4F7E0EB9C5D6}" styleName="Medium Style 3 –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344D84-9AFB-497E-A393-DC336BA19D2E}" styleName="Medium Style 3 –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15"/>
    <p:restoredTop sz="95105"/>
  </p:normalViewPr>
  <p:slideViewPr>
    <p:cSldViewPr snapToGrid="0">
      <p:cViewPr varScale="1">
        <p:scale>
          <a:sx n="93" d="100"/>
          <a:sy n="93" d="100"/>
        </p:scale>
        <p:origin x="3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6DDE4C5-D1C6-BD4D-A923-6526C5440FA0}" type="doc">
      <dgm:prSet loTypeId="urn:microsoft.com/office/officeart/2005/8/layout/pyramid1" loCatId="" qsTypeId="urn:microsoft.com/office/officeart/2005/8/quickstyle/simple1" qsCatId="simple" csTypeId="urn:microsoft.com/office/officeart/2005/8/colors/colorful1" csCatId="colorful" phldr="1"/>
      <dgm:spPr/>
    </dgm:pt>
    <dgm:pt modelId="{C2F74159-57D5-594E-9318-96D05D96137B}">
      <dgm:prSet phldrT="[Text]" custT="1"/>
      <dgm:spPr/>
      <dgm:t>
        <a:bodyPr/>
        <a:lstStyle/>
        <a:p>
          <a:r>
            <a:rPr lang="en-GB" sz="2000" dirty="0"/>
            <a:t>Analytics for competitive strategy.</a:t>
          </a:r>
          <a:endParaRPr lang="en-GB" sz="2000" b="1" dirty="0"/>
        </a:p>
      </dgm:t>
    </dgm:pt>
    <dgm:pt modelId="{8B20E2D2-5F36-D446-A4CE-23E730CCD3C3}" type="parTrans" cxnId="{2FE17632-5087-8442-ADD7-CBB0CAAE498C}">
      <dgm:prSet/>
      <dgm:spPr/>
      <dgm:t>
        <a:bodyPr/>
        <a:lstStyle/>
        <a:p>
          <a:endParaRPr lang="en-GB"/>
        </a:p>
      </dgm:t>
    </dgm:pt>
    <dgm:pt modelId="{466504D4-FE6E-9546-87DC-48B97A9B7014}" type="sibTrans" cxnId="{2FE17632-5087-8442-ADD7-CBB0CAAE498C}">
      <dgm:prSet/>
      <dgm:spPr/>
      <dgm:t>
        <a:bodyPr/>
        <a:lstStyle/>
        <a:p>
          <a:endParaRPr lang="en-GB"/>
        </a:p>
      </dgm:t>
    </dgm:pt>
    <dgm:pt modelId="{F483D63E-A94C-D748-96DC-173665BFF3B9}">
      <dgm:prSet phldrT="[Text]"/>
      <dgm:spPr/>
      <dgm:t>
        <a:bodyPr/>
        <a:lstStyle/>
        <a:p>
          <a:r>
            <a:rPr lang="en-GB" dirty="0"/>
            <a:t>Analytics for Decision Making(e.g. what promotion strategy to use)</a:t>
          </a:r>
        </a:p>
      </dgm:t>
    </dgm:pt>
    <dgm:pt modelId="{7B45770D-745D-A946-A00A-5A3CF1E034D2}" type="parTrans" cxnId="{CF9CB84B-9F08-8545-B964-D39DC5ED6773}">
      <dgm:prSet/>
      <dgm:spPr/>
      <dgm:t>
        <a:bodyPr/>
        <a:lstStyle/>
        <a:p>
          <a:endParaRPr lang="en-GB"/>
        </a:p>
      </dgm:t>
    </dgm:pt>
    <dgm:pt modelId="{F37CED60-62BE-7747-80A6-5352FCC0C183}" type="sibTrans" cxnId="{CF9CB84B-9F08-8545-B964-D39DC5ED6773}">
      <dgm:prSet/>
      <dgm:spPr/>
      <dgm:t>
        <a:bodyPr/>
        <a:lstStyle/>
        <a:p>
          <a:endParaRPr lang="en-GB"/>
        </a:p>
      </dgm:t>
    </dgm:pt>
    <dgm:pt modelId="{38DC9C4F-841F-624C-8BCA-468113A6B6CA}">
      <dgm:prSet phldrT="[Text]"/>
      <dgm:spPr/>
      <dgm:t>
        <a:bodyPr/>
        <a:lstStyle/>
        <a:p>
          <a:r>
            <a:rPr lang="en-GB" dirty="0"/>
            <a:t>Analytics for Problem Solving (e.g. Reduce Inventory Cost)</a:t>
          </a:r>
        </a:p>
      </dgm:t>
    </dgm:pt>
    <dgm:pt modelId="{351A195D-30B8-2A4E-ABAD-4012469C540A}" type="parTrans" cxnId="{7644FF97-7127-1A45-8C39-40E6830D463F}">
      <dgm:prSet/>
      <dgm:spPr/>
      <dgm:t>
        <a:bodyPr/>
        <a:lstStyle/>
        <a:p>
          <a:endParaRPr lang="en-GB"/>
        </a:p>
      </dgm:t>
    </dgm:pt>
    <dgm:pt modelId="{BBEEB97B-C5C4-F94D-8C43-DBCD1C4F15B3}" type="sibTrans" cxnId="{7644FF97-7127-1A45-8C39-40E6830D463F}">
      <dgm:prSet/>
      <dgm:spPr/>
      <dgm:t>
        <a:bodyPr/>
        <a:lstStyle/>
        <a:p>
          <a:endParaRPr lang="en-GB"/>
        </a:p>
      </dgm:t>
    </dgm:pt>
    <dgm:pt modelId="{3868DD3C-4400-4046-AD72-7A579116AF7B}">
      <dgm:prSet phldrT="[Text]"/>
      <dgm:spPr/>
      <dgm:t>
        <a:bodyPr/>
        <a:lstStyle/>
        <a:p>
          <a:r>
            <a:rPr lang="en-GB" dirty="0"/>
            <a:t>Analytics for process improvement (e.g. reduce procurement cycle times)</a:t>
          </a:r>
        </a:p>
      </dgm:t>
    </dgm:pt>
    <dgm:pt modelId="{BB052BD8-E356-B644-9AF6-B844B7BB8903}" type="parTrans" cxnId="{02F6D90A-243B-3E40-B957-4E0AD33A5C81}">
      <dgm:prSet/>
      <dgm:spPr/>
      <dgm:t>
        <a:bodyPr/>
        <a:lstStyle/>
        <a:p>
          <a:endParaRPr lang="en-GB"/>
        </a:p>
      </dgm:t>
    </dgm:pt>
    <dgm:pt modelId="{6FEA50C1-AD00-0E4B-8585-3DCE788F4580}" type="sibTrans" cxnId="{02F6D90A-243B-3E40-B957-4E0AD33A5C81}">
      <dgm:prSet/>
      <dgm:spPr/>
      <dgm:t>
        <a:bodyPr/>
        <a:lstStyle/>
        <a:p>
          <a:endParaRPr lang="en-GB"/>
        </a:p>
      </dgm:t>
    </dgm:pt>
    <dgm:pt modelId="{2AB0F522-157D-5845-8C91-DDAB15F4AC24}" type="pres">
      <dgm:prSet presAssocID="{66DDE4C5-D1C6-BD4D-A923-6526C5440FA0}" presName="Name0" presStyleCnt="0">
        <dgm:presLayoutVars>
          <dgm:dir/>
          <dgm:animLvl val="lvl"/>
          <dgm:resizeHandles val="exact"/>
        </dgm:presLayoutVars>
      </dgm:prSet>
      <dgm:spPr/>
    </dgm:pt>
    <dgm:pt modelId="{F3248598-8B75-734D-A787-4E5CE2C95DAE}" type="pres">
      <dgm:prSet presAssocID="{C2F74159-57D5-594E-9318-96D05D96137B}" presName="Name8" presStyleCnt="0"/>
      <dgm:spPr/>
    </dgm:pt>
    <dgm:pt modelId="{649FB69A-BFC3-3143-B9AF-510409936ACA}" type="pres">
      <dgm:prSet presAssocID="{C2F74159-57D5-594E-9318-96D05D96137B}" presName="level" presStyleLbl="node1" presStyleIdx="0" presStyleCnt="4">
        <dgm:presLayoutVars>
          <dgm:chMax val="1"/>
          <dgm:bulletEnabled val="1"/>
        </dgm:presLayoutVars>
      </dgm:prSet>
      <dgm:spPr/>
    </dgm:pt>
    <dgm:pt modelId="{341846A3-1D3A-2647-AA8F-EDA3961F1025}" type="pres">
      <dgm:prSet presAssocID="{C2F74159-57D5-594E-9318-96D05D96137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74747344-7315-254A-8EB6-8EB0E75D0A20}" type="pres">
      <dgm:prSet presAssocID="{F483D63E-A94C-D748-96DC-173665BFF3B9}" presName="Name8" presStyleCnt="0"/>
      <dgm:spPr/>
    </dgm:pt>
    <dgm:pt modelId="{83E92847-6BD3-2249-ACCC-2A8F99CB3FA8}" type="pres">
      <dgm:prSet presAssocID="{F483D63E-A94C-D748-96DC-173665BFF3B9}" presName="level" presStyleLbl="node1" presStyleIdx="1" presStyleCnt="4">
        <dgm:presLayoutVars>
          <dgm:chMax val="1"/>
          <dgm:bulletEnabled val="1"/>
        </dgm:presLayoutVars>
      </dgm:prSet>
      <dgm:spPr/>
    </dgm:pt>
    <dgm:pt modelId="{E6E74811-9403-3847-9EA5-948D46DE637E}" type="pres">
      <dgm:prSet presAssocID="{F483D63E-A94C-D748-96DC-173665BFF3B9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BB450769-03CD-0F4A-B285-93575CCE6D97}" type="pres">
      <dgm:prSet presAssocID="{38DC9C4F-841F-624C-8BCA-468113A6B6CA}" presName="Name8" presStyleCnt="0"/>
      <dgm:spPr/>
    </dgm:pt>
    <dgm:pt modelId="{674D5407-44BF-4F42-B348-F2E1D21CE95B}" type="pres">
      <dgm:prSet presAssocID="{38DC9C4F-841F-624C-8BCA-468113A6B6CA}" presName="level" presStyleLbl="node1" presStyleIdx="2" presStyleCnt="4">
        <dgm:presLayoutVars>
          <dgm:chMax val="1"/>
          <dgm:bulletEnabled val="1"/>
        </dgm:presLayoutVars>
      </dgm:prSet>
      <dgm:spPr/>
    </dgm:pt>
    <dgm:pt modelId="{EFD46372-047E-FD49-8EBE-2E0E096FF235}" type="pres">
      <dgm:prSet presAssocID="{38DC9C4F-841F-624C-8BCA-468113A6B6CA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9AC8B82-74C7-6E4C-AAB3-E91763292767}" type="pres">
      <dgm:prSet presAssocID="{3868DD3C-4400-4046-AD72-7A579116AF7B}" presName="Name8" presStyleCnt="0"/>
      <dgm:spPr/>
    </dgm:pt>
    <dgm:pt modelId="{5816607C-E02D-E147-A6E9-21255EED5FA8}" type="pres">
      <dgm:prSet presAssocID="{3868DD3C-4400-4046-AD72-7A579116AF7B}" presName="level" presStyleLbl="node1" presStyleIdx="3" presStyleCnt="4">
        <dgm:presLayoutVars>
          <dgm:chMax val="1"/>
          <dgm:bulletEnabled val="1"/>
        </dgm:presLayoutVars>
      </dgm:prSet>
      <dgm:spPr/>
    </dgm:pt>
    <dgm:pt modelId="{5A3DAA87-BD8F-9248-AAA4-8C67B9F0AA58}" type="pres">
      <dgm:prSet presAssocID="{3868DD3C-4400-4046-AD72-7A579116AF7B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02F6D90A-243B-3E40-B957-4E0AD33A5C81}" srcId="{66DDE4C5-D1C6-BD4D-A923-6526C5440FA0}" destId="{3868DD3C-4400-4046-AD72-7A579116AF7B}" srcOrd="3" destOrd="0" parTransId="{BB052BD8-E356-B644-9AF6-B844B7BB8903}" sibTransId="{6FEA50C1-AD00-0E4B-8585-3DCE788F4580}"/>
    <dgm:cxn modelId="{1FB0D71E-5911-E64B-B832-5C71618839B7}" type="presOf" srcId="{C2F74159-57D5-594E-9318-96D05D96137B}" destId="{649FB69A-BFC3-3143-B9AF-510409936ACA}" srcOrd="0" destOrd="0" presId="urn:microsoft.com/office/officeart/2005/8/layout/pyramid1"/>
    <dgm:cxn modelId="{2FE17632-5087-8442-ADD7-CBB0CAAE498C}" srcId="{66DDE4C5-D1C6-BD4D-A923-6526C5440FA0}" destId="{C2F74159-57D5-594E-9318-96D05D96137B}" srcOrd="0" destOrd="0" parTransId="{8B20E2D2-5F36-D446-A4CE-23E730CCD3C3}" sibTransId="{466504D4-FE6E-9546-87DC-48B97A9B7014}"/>
    <dgm:cxn modelId="{E0D6A23B-709C-E64D-9350-1188A2FF9DC7}" type="presOf" srcId="{F483D63E-A94C-D748-96DC-173665BFF3B9}" destId="{83E92847-6BD3-2249-ACCC-2A8F99CB3FA8}" srcOrd="0" destOrd="0" presId="urn:microsoft.com/office/officeart/2005/8/layout/pyramid1"/>
    <dgm:cxn modelId="{CF9CB84B-9F08-8545-B964-D39DC5ED6773}" srcId="{66DDE4C5-D1C6-BD4D-A923-6526C5440FA0}" destId="{F483D63E-A94C-D748-96DC-173665BFF3B9}" srcOrd="1" destOrd="0" parTransId="{7B45770D-745D-A946-A00A-5A3CF1E034D2}" sibTransId="{F37CED60-62BE-7747-80A6-5352FCC0C183}"/>
    <dgm:cxn modelId="{9279B661-65D3-1F41-BBE6-9E67EDE4DF77}" type="presOf" srcId="{C2F74159-57D5-594E-9318-96D05D96137B}" destId="{341846A3-1D3A-2647-AA8F-EDA3961F1025}" srcOrd="1" destOrd="0" presId="urn:microsoft.com/office/officeart/2005/8/layout/pyramid1"/>
    <dgm:cxn modelId="{D387A973-F7A4-F643-9475-DE970C043B9A}" type="presOf" srcId="{F483D63E-A94C-D748-96DC-173665BFF3B9}" destId="{E6E74811-9403-3847-9EA5-948D46DE637E}" srcOrd="1" destOrd="0" presId="urn:microsoft.com/office/officeart/2005/8/layout/pyramid1"/>
    <dgm:cxn modelId="{38D11B79-B0B8-B540-A5E4-4E600943DD6F}" type="presOf" srcId="{38DC9C4F-841F-624C-8BCA-468113A6B6CA}" destId="{EFD46372-047E-FD49-8EBE-2E0E096FF235}" srcOrd="1" destOrd="0" presId="urn:microsoft.com/office/officeart/2005/8/layout/pyramid1"/>
    <dgm:cxn modelId="{68FE157C-522B-D743-AA6C-764163E82E8C}" type="presOf" srcId="{66DDE4C5-D1C6-BD4D-A923-6526C5440FA0}" destId="{2AB0F522-157D-5845-8C91-DDAB15F4AC24}" srcOrd="0" destOrd="0" presId="urn:microsoft.com/office/officeart/2005/8/layout/pyramid1"/>
    <dgm:cxn modelId="{CA754F8E-E3C8-2345-8605-F5131456312A}" type="presOf" srcId="{3868DD3C-4400-4046-AD72-7A579116AF7B}" destId="{5816607C-E02D-E147-A6E9-21255EED5FA8}" srcOrd="0" destOrd="0" presId="urn:microsoft.com/office/officeart/2005/8/layout/pyramid1"/>
    <dgm:cxn modelId="{7644FF97-7127-1A45-8C39-40E6830D463F}" srcId="{66DDE4C5-D1C6-BD4D-A923-6526C5440FA0}" destId="{38DC9C4F-841F-624C-8BCA-468113A6B6CA}" srcOrd="2" destOrd="0" parTransId="{351A195D-30B8-2A4E-ABAD-4012469C540A}" sibTransId="{BBEEB97B-C5C4-F94D-8C43-DBCD1C4F15B3}"/>
    <dgm:cxn modelId="{4AACBEA7-0B8C-E349-B871-60945A2C220C}" type="presOf" srcId="{3868DD3C-4400-4046-AD72-7A579116AF7B}" destId="{5A3DAA87-BD8F-9248-AAA4-8C67B9F0AA58}" srcOrd="1" destOrd="0" presId="urn:microsoft.com/office/officeart/2005/8/layout/pyramid1"/>
    <dgm:cxn modelId="{309738CD-4A61-2E47-88C3-502460693F42}" type="presOf" srcId="{38DC9C4F-841F-624C-8BCA-468113A6B6CA}" destId="{674D5407-44BF-4F42-B348-F2E1D21CE95B}" srcOrd="0" destOrd="0" presId="urn:microsoft.com/office/officeart/2005/8/layout/pyramid1"/>
    <dgm:cxn modelId="{6F39361E-BA17-5D48-88C1-E7418BFD64C4}" type="presParOf" srcId="{2AB0F522-157D-5845-8C91-DDAB15F4AC24}" destId="{F3248598-8B75-734D-A787-4E5CE2C95DAE}" srcOrd="0" destOrd="0" presId="urn:microsoft.com/office/officeart/2005/8/layout/pyramid1"/>
    <dgm:cxn modelId="{C2E8118C-A50D-7446-87A0-46EA8AD168C7}" type="presParOf" srcId="{F3248598-8B75-734D-A787-4E5CE2C95DAE}" destId="{649FB69A-BFC3-3143-B9AF-510409936ACA}" srcOrd="0" destOrd="0" presId="urn:microsoft.com/office/officeart/2005/8/layout/pyramid1"/>
    <dgm:cxn modelId="{A066A8EA-67F3-5E48-A7E9-6AA86DE163CE}" type="presParOf" srcId="{F3248598-8B75-734D-A787-4E5CE2C95DAE}" destId="{341846A3-1D3A-2647-AA8F-EDA3961F1025}" srcOrd="1" destOrd="0" presId="urn:microsoft.com/office/officeart/2005/8/layout/pyramid1"/>
    <dgm:cxn modelId="{57BBAADB-C6FC-7940-93FC-1036FE92FED2}" type="presParOf" srcId="{2AB0F522-157D-5845-8C91-DDAB15F4AC24}" destId="{74747344-7315-254A-8EB6-8EB0E75D0A20}" srcOrd="1" destOrd="0" presId="urn:microsoft.com/office/officeart/2005/8/layout/pyramid1"/>
    <dgm:cxn modelId="{9E03A0D1-EA7A-0340-8949-7666AA310000}" type="presParOf" srcId="{74747344-7315-254A-8EB6-8EB0E75D0A20}" destId="{83E92847-6BD3-2249-ACCC-2A8F99CB3FA8}" srcOrd="0" destOrd="0" presId="urn:microsoft.com/office/officeart/2005/8/layout/pyramid1"/>
    <dgm:cxn modelId="{C3EF7DE9-3D79-BE43-B9B6-3BCBED7997A0}" type="presParOf" srcId="{74747344-7315-254A-8EB6-8EB0E75D0A20}" destId="{E6E74811-9403-3847-9EA5-948D46DE637E}" srcOrd="1" destOrd="0" presId="urn:microsoft.com/office/officeart/2005/8/layout/pyramid1"/>
    <dgm:cxn modelId="{D1B643DA-A4A5-9C46-9578-46A46FD5B36A}" type="presParOf" srcId="{2AB0F522-157D-5845-8C91-DDAB15F4AC24}" destId="{BB450769-03CD-0F4A-B285-93575CCE6D97}" srcOrd="2" destOrd="0" presId="urn:microsoft.com/office/officeart/2005/8/layout/pyramid1"/>
    <dgm:cxn modelId="{DDF43F7D-FBCC-474C-B154-6475DE96F0CE}" type="presParOf" srcId="{BB450769-03CD-0F4A-B285-93575CCE6D97}" destId="{674D5407-44BF-4F42-B348-F2E1D21CE95B}" srcOrd="0" destOrd="0" presId="urn:microsoft.com/office/officeart/2005/8/layout/pyramid1"/>
    <dgm:cxn modelId="{A9240D9B-BD3C-EA4C-8406-A1048B6D59C5}" type="presParOf" srcId="{BB450769-03CD-0F4A-B285-93575CCE6D97}" destId="{EFD46372-047E-FD49-8EBE-2E0E096FF235}" srcOrd="1" destOrd="0" presId="urn:microsoft.com/office/officeart/2005/8/layout/pyramid1"/>
    <dgm:cxn modelId="{067F6EEB-6CD2-DB4C-9D2D-682C1C4274AE}" type="presParOf" srcId="{2AB0F522-157D-5845-8C91-DDAB15F4AC24}" destId="{F9AC8B82-74C7-6E4C-AAB3-E91763292767}" srcOrd="3" destOrd="0" presId="urn:microsoft.com/office/officeart/2005/8/layout/pyramid1"/>
    <dgm:cxn modelId="{49EE75DE-06AA-6F4E-BBFA-9864046B1F42}" type="presParOf" srcId="{F9AC8B82-74C7-6E4C-AAB3-E91763292767}" destId="{5816607C-E02D-E147-A6E9-21255EED5FA8}" srcOrd="0" destOrd="0" presId="urn:microsoft.com/office/officeart/2005/8/layout/pyramid1"/>
    <dgm:cxn modelId="{63582686-9A5A-B746-8F50-CF32BA6DA1E5}" type="presParOf" srcId="{F9AC8B82-74C7-6E4C-AAB3-E91763292767}" destId="{5A3DAA87-BD8F-9248-AAA4-8C67B9F0AA58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9FB69A-BFC3-3143-B9AF-510409936ACA}">
      <dsp:nvSpPr>
        <dsp:cNvPr id="0" name=""/>
        <dsp:cNvSpPr/>
      </dsp:nvSpPr>
      <dsp:spPr>
        <a:xfrm>
          <a:off x="3397827" y="0"/>
          <a:ext cx="2265218" cy="1392381"/>
        </a:xfrm>
        <a:prstGeom prst="trapezoid">
          <a:avLst>
            <a:gd name="adj" fmla="val 81343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Analytics for competitive strategy.</a:t>
          </a:r>
          <a:endParaRPr lang="en-GB" sz="2000" b="1" kern="1200" dirty="0"/>
        </a:p>
      </dsp:txBody>
      <dsp:txXfrm>
        <a:off x="3397827" y="0"/>
        <a:ext cx="2265218" cy="1392381"/>
      </dsp:txXfrm>
    </dsp:sp>
    <dsp:sp modelId="{83E92847-6BD3-2249-ACCC-2A8F99CB3FA8}">
      <dsp:nvSpPr>
        <dsp:cNvPr id="0" name=""/>
        <dsp:cNvSpPr/>
      </dsp:nvSpPr>
      <dsp:spPr>
        <a:xfrm>
          <a:off x="2265218" y="1392381"/>
          <a:ext cx="4530436" cy="1392381"/>
        </a:xfrm>
        <a:prstGeom prst="trapezoid">
          <a:avLst>
            <a:gd name="adj" fmla="val 81343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Analytics for Decision Making(e.g. what promotion strategy to use)</a:t>
          </a:r>
        </a:p>
      </dsp:txBody>
      <dsp:txXfrm>
        <a:off x="3058044" y="1392381"/>
        <a:ext cx="2944783" cy="1392381"/>
      </dsp:txXfrm>
    </dsp:sp>
    <dsp:sp modelId="{674D5407-44BF-4F42-B348-F2E1D21CE95B}">
      <dsp:nvSpPr>
        <dsp:cNvPr id="0" name=""/>
        <dsp:cNvSpPr/>
      </dsp:nvSpPr>
      <dsp:spPr>
        <a:xfrm>
          <a:off x="1132609" y="2784763"/>
          <a:ext cx="6795654" cy="1392381"/>
        </a:xfrm>
        <a:prstGeom prst="trapezoid">
          <a:avLst>
            <a:gd name="adj" fmla="val 81343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Analytics for Problem Solving (e.g. Reduce Inventory Cost)</a:t>
          </a:r>
        </a:p>
      </dsp:txBody>
      <dsp:txXfrm>
        <a:off x="2321848" y="2784763"/>
        <a:ext cx="4417175" cy="1392381"/>
      </dsp:txXfrm>
    </dsp:sp>
    <dsp:sp modelId="{5816607C-E02D-E147-A6E9-21255EED5FA8}">
      <dsp:nvSpPr>
        <dsp:cNvPr id="0" name=""/>
        <dsp:cNvSpPr/>
      </dsp:nvSpPr>
      <dsp:spPr>
        <a:xfrm>
          <a:off x="0" y="4177145"/>
          <a:ext cx="9060873" cy="1392381"/>
        </a:xfrm>
        <a:prstGeom prst="trapezoid">
          <a:avLst>
            <a:gd name="adj" fmla="val 81343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Analytics for process improvement (e.g. reduce procurement cycle times)</a:t>
          </a:r>
        </a:p>
      </dsp:txBody>
      <dsp:txXfrm>
        <a:off x="1585652" y="4177145"/>
        <a:ext cx="5889567" cy="13923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4AFD50-AF00-5742-A15C-6DC000F1027F}" type="datetimeFigureOut">
              <a:rPr lang="en-US" smtClean="0"/>
              <a:t>7/29/26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994987-8A6D-624B-A74D-340469AF7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621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6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6084417" y="21771"/>
            <a:ext cx="6095996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61"/>
          <p:cNvPicPr preferRelativeResize="0"/>
          <p:nvPr/>
        </p:nvPicPr>
        <p:blipFill rotWithShape="1">
          <a:blip r:embed="rId4">
            <a:alphaModFix/>
          </a:blip>
          <a:srcRect r="28963"/>
          <a:stretch/>
        </p:blipFill>
        <p:spPr>
          <a:xfrm>
            <a:off x="1021760" y="3560411"/>
            <a:ext cx="1657623" cy="1164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61"/>
          <p:cNvPicPr preferRelativeResize="0"/>
          <p:nvPr/>
        </p:nvPicPr>
        <p:blipFill rotWithShape="1">
          <a:blip r:embed="rId5">
            <a:alphaModFix/>
          </a:blip>
          <a:srcRect l="2593"/>
          <a:stretch/>
        </p:blipFill>
        <p:spPr>
          <a:xfrm rot="5400000">
            <a:off x="140509" y="1120230"/>
            <a:ext cx="3505205" cy="1264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6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5400000">
            <a:off x="854302" y="5186815"/>
            <a:ext cx="2077619" cy="1264748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61"/>
          <p:cNvSpPr txBox="1">
            <a:spLocks noGrp="1"/>
          </p:cNvSpPr>
          <p:nvPr>
            <p:ph type="ctrTitle"/>
          </p:nvPr>
        </p:nvSpPr>
        <p:spPr>
          <a:xfrm>
            <a:off x="3287486" y="1122363"/>
            <a:ext cx="8452569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5" name="Google Shape;25;p61"/>
          <p:cNvSpPr txBox="1">
            <a:spLocks noGrp="1"/>
          </p:cNvSpPr>
          <p:nvPr>
            <p:ph type="subTitle" idx="1"/>
          </p:nvPr>
        </p:nvSpPr>
        <p:spPr>
          <a:xfrm>
            <a:off x="3287486" y="3602038"/>
            <a:ext cx="8452569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26" name="Google Shape;26;p61"/>
          <p:cNvSpPr/>
          <p:nvPr/>
        </p:nvSpPr>
        <p:spPr>
          <a:xfrm>
            <a:off x="0" y="0"/>
            <a:ext cx="130629" cy="345077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61"/>
          <p:cNvSpPr/>
          <p:nvPr/>
        </p:nvSpPr>
        <p:spPr>
          <a:xfrm>
            <a:off x="0" y="3429000"/>
            <a:ext cx="130629" cy="345077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61931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4DA7D1BD-EBF9-0146-851F-378496214D5D}" type="datetimeFigureOut">
              <a:rPr lang="en-US" smtClean="0"/>
              <a:t>7/29/26</a:t>
            </a:fld>
            <a:endParaRPr lang="en-US"/>
          </a:p>
        </p:txBody>
      </p:sp>
      <p:sp>
        <p:nvSpPr>
          <p:cNvPr id="30" name="Google Shape;30;p6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/>
          </a:p>
        </p:txBody>
      </p:sp>
      <p:sp>
        <p:nvSpPr>
          <p:cNvPr id="31" name="Google Shape;31;p6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1547F53E-F846-DA45-A1E7-12F71F322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834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f2a7862fc4_33_0)">
  <p:cSld name="Generated (g3f2a7862fc4_33_0)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9765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4"/>
          <p:cNvSpPr txBox="1">
            <a:spLocks noGrp="1"/>
          </p:cNvSpPr>
          <p:nvPr>
            <p:ph type="title"/>
          </p:nvPr>
        </p:nvSpPr>
        <p:spPr>
          <a:xfrm>
            <a:off x="594464" y="60296"/>
            <a:ext cx="10001250" cy="1053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5" name="Google Shape;35;p64"/>
          <p:cNvSpPr txBox="1">
            <a:spLocks noGrp="1"/>
          </p:cNvSpPr>
          <p:nvPr>
            <p:ph type="body" idx="1"/>
          </p:nvPr>
        </p:nvSpPr>
        <p:spPr>
          <a:xfrm>
            <a:off x="594464" y="1250731"/>
            <a:ext cx="10648950" cy="4926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6" name="Google Shape;36;p64"/>
          <p:cNvSpPr txBox="1">
            <a:spLocks noGrp="1"/>
          </p:cNvSpPr>
          <p:nvPr>
            <p:ph type="sldNum" idx="12"/>
          </p:nvPr>
        </p:nvSpPr>
        <p:spPr>
          <a:xfrm>
            <a:off x="11669486" y="6492875"/>
            <a:ext cx="522514" cy="3651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ct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ct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ct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ct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ct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ct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ct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ct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1547F53E-F846-DA45-A1E7-12F71F322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465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0"/>
          <p:cNvSpPr txBox="1">
            <a:spLocks noGrp="1"/>
          </p:cNvSpPr>
          <p:nvPr>
            <p:ph type="title"/>
          </p:nvPr>
        </p:nvSpPr>
        <p:spPr>
          <a:xfrm>
            <a:off x="594464" y="60296"/>
            <a:ext cx="10001250" cy="1053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0"/>
          <p:cNvSpPr txBox="1">
            <a:spLocks noGrp="1"/>
          </p:cNvSpPr>
          <p:nvPr>
            <p:ph type="body" idx="1"/>
          </p:nvPr>
        </p:nvSpPr>
        <p:spPr>
          <a:xfrm>
            <a:off x="594464" y="1250731"/>
            <a:ext cx="10648950" cy="4926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1547F53E-F846-DA45-A1E7-12F71F322400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Google Shape;13;p60"/>
          <p:cNvPicPr preferRelativeResize="0"/>
          <p:nvPr/>
        </p:nvPicPr>
        <p:blipFill rotWithShape="1">
          <a:blip r:embed="rId6">
            <a:alphaModFix/>
          </a:blip>
          <a:srcRect r="28963"/>
          <a:stretch/>
        </p:blipFill>
        <p:spPr>
          <a:xfrm>
            <a:off x="10787744" y="-1"/>
            <a:ext cx="1273628" cy="8949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" name="Google Shape;14;p60"/>
          <p:cNvCxnSpPr/>
          <p:nvPr/>
        </p:nvCxnSpPr>
        <p:spPr>
          <a:xfrm>
            <a:off x="2205035" y="865039"/>
            <a:ext cx="2707781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5" name="Google Shape;15;p60"/>
          <p:cNvSpPr/>
          <p:nvPr/>
        </p:nvSpPr>
        <p:spPr>
          <a:xfrm>
            <a:off x="0" y="0"/>
            <a:ext cx="130629" cy="345077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60"/>
          <p:cNvSpPr/>
          <p:nvPr/>
        </p:nvSpPr>
        <p:spPr>
          <a:xfrm>
            <a:off x="0" y="3429000"/>
            <a:ext cx="130629" cy="345077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" name="Google Shape;17;p60"/>
          <p:cNvCxnSpPr/>
          <p:nvPr/>
        </p:nvCxnSpPr>
        <p:spPr>
          <a:xfrm>
            <a:off x="721812" y="865039"/>
            <a:ext cx="1483219" cy="0"/>
          </a:xfrm>
          <a:prstGeom prst="straightConnector1">
            <a:avLst/>
          </a:prstGeom>
          <a:noFill/>
          <a:ln w="38100" cap="flat" cmpd="sng">
            <a:solidFill>
              <a:srgbClr val="0C0C0C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23973206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eforum.org/publications/the-future-of-jobs-report-2025/" TargetMode="External"/><Relationship Id="rId2" Type="http://schemas.openxmlformats.org/officeDocument/2006/relationships/hyperlink" Target="https://public.tableau.com/app/profile/world.economic.forum.data.analytics/viz/Futureofjobs-skillsontherise/skillsontherise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iobe.com/tiobe-index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3CB70-4268-09A9-54B6-1A1D66D1A7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Business Analytics using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A5C2D7-D6CB-6615-076E-7CB92BC07A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Nikhil D Jonathan</a:t>
            </a:r>
          </a:p>
        </p:txBody>
      </p:sp>
    </p:spTree>
    <p:extLst>
      <p:ext uri="{BB962C8B-B14F-4D97-AF65-F5344CB8AC3E}">
        <p14:creationId xmlns:p14="http://schemas.microsoft.com/office/powerpoint/2010/main" val="343247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93253C-5674-72F3-EB5E-1A6942115FD6}"/>
              </a:ext>
            </a:extLst>
          </p:cNvPr>
          <p:cNvSpPr txBox="1"/>
          <p:nvPr/>
        </p:nvSpPr>
        <p:spPr>
          <a:xfrm>
            <a:off x="762001" y="1717965"/>
            <a:ext cx="1055716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“To understand God’s thoughts we must study statistics, for these are the measure of His purpose.”</a:t>
            </a:r>
          </a:p>
          <a:p>
            <a:endParaRPr lang="en-US" sz="4000" b="1" dirty="0"/>
          </a:p>
          <a:p>
            <a:r>
              <a:rPr lang="en-US" sz="3200" i="1" dirty="0"/>
              <a:t>- Florence Nightingale ‘Lady with the Lamp’</a:t>
            </a:r>
          </a:p>
        </p:txBody>
      </p:sp>
    </p:spTree>
    <p:extLst>
      <p:ext uri="{BB962C8B-B14F-4D97-AF65-F5344CB8AC3E}">
        <p14:creationId xmlns:p14="http://schemas.microsoft.com/office/powerpoint/2010/main" val="2866930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ptional.is) Ada Lovelace Day: Florence Nightingale">
            <a:extLst>
              <a:ext uri="{FF2B5EF4-FFF2-40B4-BE49-F238E27FC236}">
                <a16:creationId xmlns:a16="http://schemas.microsoft.com/office/drawing/2014/main" id="{5E171B23-D0E0-668C-10CD-00C860551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8836" y="637308"/>
            <a:ext cx="6219127" cy="6093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875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7AE597-70F6-B38C-1673-DA738EA136FA}"/>
              </a:ext>
            </a:extLst>
          </p:cNvPr>
          <p:cNvSpPr txBox="1"/>
          <p:nvPr/>
        </p:nvSpPr>
        <p:spPr>
          <a:xfrm>
            <a:off x="2940425" y="1065172"/>
            <a:ext cx="6533636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Why Analytics?</a:t>
            </a:r>
          </a:p>
          <a:p>
            <a:pPr algn="ctr"/>
            <a:endParaRPr lang="en-US" b="1" dirty="0"/>
          </a:p>
          <a:p>
            <a:pPr algn="ctr"/>
            <a:r>
              <a:rPr lang="en-US" b="1" dirty="0"/>
              <a:t>The inability of human beings to take decisions. </a:t>
            </a:r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r>
              <a:rPr lang="en-US" b="1" dirty="0"/>
              <a:t>MONTY HALL PROBLEM (Savant, 1990)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 descr="Monty Hall at his show Let's Make a Deal">
            <a:extLst>
              <a:ext uri="{FF2B5EF4-FFF2-40B4-BE49-F238E27FC236}">
                <a16:creationId xmlns:a16="http://schemas.microsoft.com/office/drawing/2014/main" id="{06343404-00B1-70DB-CB46-002B514E4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7939" y="2701759"/>
            <a:ext cx="7286673" cy="388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667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9A769F-D49B-A493-7A62-922108B1B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757" y="1468582"/>
            <a:ext cx="11206207" cy="26731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C0DFE3-0E6D-C730-6E61-1566EB6BD137}"/>
              </a:ext>
            </a:extLst>
          </p:cNvPr>
          <p:cNvSpPr txBox="1"/>
          <p:nvPr/>
        </p:nvSpPr>
        <p:spPr>
          <a:xfrm>
            <a:off x="6020860" y="3693455"/>
            <a:ext cx="13805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1/3 = 33.33%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BABF54-E23A-F729-5771-7092150517E9}"/>
              </a:ext>
            </a:extLst>
          </p:cNvPr>
          <p:cNvSpPr txBox="1"/>
          <p:nvPr/>
        </p:nvSpPr>
        <p:spPr>
          <a:xfrm>
            <a:off x="8859982" y="3693456"/>
            <a:ext cx="13805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2/3 = 66.66%</a:t>
            </a:r>
          </a:p>
        </p:txBody>
      </p:sp>
    </p:spTree>
    <p:extLst>
      <p:ext uri="{BB962C8B-B14F-4D97-AF65-F5344CB8AC3E}">
        <p14:creationId xmlns:p14="http://schemas.microsoft.com/office/powerpoint/2010/main" val="2694625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909BA5-30CC-C959-7CF7-244AAF6542D6}"/>
              </a:ext>
            </a:extLst>
          </p:cNvPr>
          <p:cNvSpPr txBox="1"/>
          <p:nvPr/>
        </p:nvSpPr>
        <p:spPr>
          <a:xfrm rot="10800000" flipV="1">
            <a:off x="3012141" y="2844225"/>
            <a:ext cx="56119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Why Business Analytics?</a:t>
            </a:r>
          </a:p>
        </p:txBody>
      </p:sp>
    </p:spTree>
    <p:extLst>
      <p:ext uri="{BB962C8B-B14F-4D97-AF65-F5344CB8AC3E}">
        <p14:creationId xmlns:p14="http://schemas.microsoft.com/office/powerpoint/2010/main" val="417169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2A3B908-02C6-65C0-D650-6572DC61FA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964751"/>
              </p:ext>
            </p:extLst>
          </p:nvPr>
        </p:nvGraphicFramePr>
        <p:xfrm>
          <a:off x="1925782" y="1052946"/>
          <a:ext cx="9060873" cy="55695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14867EC-A68B-4A0F-728D-B895B5E0FA0A}"/>
              </a:ext>
            </a:extLst>
          </p:cNvPr>
          <p:cNvSpPr txBox="1"/>
          <p:nvPr/>
        </p:nvSpPr>
        <p:spPr>
          <a:xfrm>
            <a:off x="4087092" y="217155"/>
            <a:ext cx="4973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Maturity Model of Analytics</a:t>
            </a:r>
          </a:p>
        </p:txBody>
      </p:sp>
      <p:sp>
        <p:nvSpPr>
          <p:cNvPr id="4" name="Up-down Arrow 3">
            <a:extLst>
              <a:ext uri="{FF2B5EF4-FFF2-40B4-BE49-F238E27FC236}">
                <a16:creationId xmlns:a16="http://schemas.microsoft.com/office/drawing/2014/main" id="{4B7C5593-A877-13BC-539F-CD3490ABE134}"/>
              </a:ext>
            </a:extLst>
          </p:cNvPr>
          <p:cNvSpPr/>
          <p:nvPr/>
        </p:nvSpPr>
        <p:spPr>
          <a:xfrm rot="2428619">
            <a:off x="3547489" y="-10825"/>
            <a:ext cx="374073" cy="7262828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708C1A-ED64-E26C-50BF-12D30AEFAB0B}"/>
              </a:ext>
            </a:extLst>
          </p:cNvPr>
          <p:cNvSpPr txBox="1"/>
          <p:nvPr/>
        </p:nvSpPr>
        <p:spPr>
          <a:xfrm rot="18733265">
            <a:off x="2131426" y="3435922"/>
            <a:ext cx="2351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/>
              <a:t>Data is Everything!!</a:t>
            </a:r>
          </a:p>
        </p:txBody>
      </p:sp>
    </p:spTree>
    <p:extLst>
      <p:ext uri="{BB962C8B-B14F-4D97-AF65-F5344CB8AC3E}">
        <p14:creationId xmlns:p14="http://schemas.microsoft.com/office/powerpoint/2010/main" val="4131425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. Getting started with data engineering – { DataWhale.ca }">
            <a:extLst>
              <a:ext uri="{FF2B5EF4-FFF2-40B4-BE49-F238E27FC236}">
                <a16:creationId xmlns:a16="http://schemas.microsoft.com/office/drawing/2014/main" id="{338E1B6C-81AF-E518-912D-2B5DD8B89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418" y="1008610"/>
            <a:ext cx="9628909" cy="513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224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8B01DA-55CB-5130-39AC-3480E05DF5ED}"/>
              </a:ext>
            </a:extLst>
          </p:cNvPr>
          <p:cNvSpPr txBox="1"/>
          <p:nvPr/>
        </p:nvSpPr>
        <p:spPr>
          <a:xfrm>
            <a:off x="651956" y="3429000"/>
            <a:ext cx="1039745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Reference:</a:t>
            </a:r>
          </a:p>
          <a:p>
            <a:pPr marL="342900" indent="-342900" algn="ctr">
              <a:buAutoNum type="arabicPeriod"/>
            </a:pPr>
            <a:r>
              <a:rPr lang="en-US" dirty="0">
                <a:hlinkClick r:id="rId2"/>
              </a:rPr>
              <a:t>https://public.tableau.com/app/profile/world.economic.forum.data.analytics/viz/Futureofjobs-skillsontherise/skillsontherise</a:t>
            </a:r>
            <a:endParaRPr lang="en-US" dirty="0"/>
          </a:p>
          <a:p>
            <a:pPr marL="342900" indent="-342900" algn="ctr">
              <a:buAutoNum type="arabicPeriod"/>
            </a:pPr>
            <a:endParaRPr lang="en-US" dirty="0"/>
          </a:p>
          <a:p>
            <a:pPr marL="342900" indent="-342900" algn="ctr">
              <a:buAutoNum type="arabicPeriod"/>
            </a:pPr>
            <a:r>
              <a:rPr lang="en-US" dirty="0">
                <a:hlinkClick r:id="rId3"/>
              </a:rPr>
              <a:t>https://www.weforum.org/publications/the-future-of-jobs-report-2025/</a:t>
            </a:r>
            <a:endParaRPr lang="en-US" dirty="0"/>
          </a:p>
          <a:p>
            <a:pPr marL="342900" indent="-342900" algn="ctr">
              <a:buAutoNum type="arabicPeriod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E67FDF-2C42-9606-9532-B1C1B1791C18}"/>
              </a:ext>
            </a:extLst>
          </p:cNvPr>
          <p:cNvSpPr txBox="1"/>
          <p:nvPr/>
        </p:nvSpPr>
        <p:spPr>
          <a:xfrm>
            <a:off x="1856509" y="1593272"/>
            <a:ext cx="942108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Another Why?</a:t>
            </a:r>
          </a:p>
          <a:p>
            <a:endParaRPr lang="en-US" sz="2800" b="1" dirty="0"/>
          </a:p>
          <a:p>
            <a:r>
              <a:rPr lang="en-US" sz="2800" b="1" dirty="0"/>
              <a:t>Placement/Career Progression Perspective</a:t>
            </a:r>
          </a:p>
        </p:txBody>
      </p:sp>
    </p:spTree>
    <p:extLst>
      <p:ext uri="{BB962C8B-B14F-4D97-AF65-F5344CB8AC3E}">
        <p14:creationId xmlns:p14="http://schemas.microsoft.com/office/powerpoint/2010/main" val="716909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4A23F3-B933-BF97-7557-2D6AF5C5951E}"/>
              </a:ext>
            </a:extLst>
          </p:cNvPr>
          <p:cNvSpPr txBox="1"/>
          <p:nvPr/>
        </p:nvSpPr>
        <p:spPr>
          <a:xfrm>
            <a:off x="415636" y="997527"/>
            <a:ext cx="11599650" cy="5509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of Business Analytics: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DESCRIPTIVE ANALYTICS: Understand past performance</a:t>
            </a:r>
          </a:p>
          <a:p>
            <a:pPr marL="514350" indent="-514350">
              <a:buFont typeface="+mj-lt"/>
              <a:buAutoNum type="arabicPeriod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DIAGNOSTIC ANALYTICS: Discovering why events occurred</a:t>
            </a:r>
          </a:p>
          <a:p>
            <a:pPr marL="514350" indent="-514350">
              <a:buFont typeface="+mj-lt"/>
              <a:buAutoNum type="arabicPeriod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ANALYTICS: Forecasting Future Trends</a:t>
            </a:r>
          </a:p>
          <a:p>
            <a:pPr marL="514350" indent="-514350">
              <a:buFont typeface="+mj-lt"/>
              <a:buAutoNum type="arabicPeriod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PRESCRIPTIVE ANALYTICS: Recommending Optimal Actions</a:t>
            </a:r>
          </a:p>
          <a:p>
            <a:pPr marL="514350" indent="-514350">
              <a:buFont typeface="+mj-lt"/>
              <a:buAutoNum type="arabicPeriod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466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e Loves Me Not Season : Krulwich Wonders... : NPR">
            <a:extLst>
              <a:ext uri="{FF2B5EF4-FFF2-40B4-BE49-F238E27FC236}">
                <a16:creationId xmlns:a16="http://schemas.microsoft.com/office/drawing/2014/main" id="{6EEB7994-83F5-121A-664F-F7AFD15A2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727" y="1138381"/>
            <a:ext cx="9587346" cy="5280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3622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E70072-A73D-D40B-49CD-9EEAAA11440B}"/>
              </a:ext>
            </a:extLst>
          </p:cNvPr>
          <p:cNvSpPr txBox="1"/>
          <p:nvPr/>
        </p:nvSpPr>
        <p:spPr>
          <a:xfrm>
            <a:off x="637310" y="1094511"/>
            <a:ext cx="11028217" cy="4259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Technology for practical Analytics (Data Warehousing):</a:t>
            </a:r>
          </a:p>
          <a:p>
            <a:endParaRPr lang="en-US" sz="36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800" dirty="0"/>
              <a:t>Artificial Intelligence - “Agentic Systems, NLP, Transformers”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800" dirty="0">
                <a:highlight>
                  <a:srgbClr val="FFFF00"/>
                </a:highlight>
              </a:rPr>
              <a:t> Machine Learning – “Supervised and Unsupervised”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800" dirty="0">
                <a:highlight>
                  <a:srgbClr val="FFFF00"/>
                </a:highlight>
              </a:rPr>
              <a:t>Statistical Learning – “Linear and Non-linear”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800" dirty="0"/>
              <a:t>Deep Learning – “ANN, CNN, RNN, LSTM &amp; Reinforcement"</a:t>
            </a:r>
          </a:p>
        </p:txBody>
      </p:sp>
    </p:spTree>
    <p:extLst>
      <p:ext uri="{BB962C8B-B14F-4D97-AF65-F5344CB8AC3E}">
        <p14:creationId xmlns:p14="http://schemas.microsoft.com/office/powerpoint/2010/main" val="1283855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557F71-B3CE-AE86-53DE-5203BE44F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7642" y="1197788"/>
            <a:ext cx="8136715" cy="5078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8213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C74255-46DB-745E-977A-5AADD1E15755}"/>
              </a:ext>
            </a:extLst>
          </p:cNvPr>
          <p:cNvSpPr txBox="1"/>
          <p:nvPr/>
        </p:nvSpPr>
        <p:spPr>
          <a:xfrm>
            <a:off x="1870364" y="942109"/>
            <a:ext cx="7564582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to expect from the business analytics course??</a:t>
            </a:r>
          </a:p>
          <a:p>
            <a:pPr algn="ctr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Skills: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in Python;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Processing;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Visualizations;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Analysis;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Inference &amp; Testing;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Modelling; ML Fundamentals ;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CRISP-DM;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Story-telling; Responsible Analytics;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8728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6AB31F-D52B-5636-1B28-FC7C4CDA5B7D}"/>
              </a:ext>
            </a:extLst>
          </p:cNvPr>
          <p:cNvSpPr txBox="1"/>
          <p:nvPr/>
        </p:nvSpPr>
        <p:spPr>
          <a:xfrm>
            <a:off x="928255" y="1166842"/>
            <a:ext cx="1072177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/>
              <a:t>Let’s make contact with Python</a:t>
            </a:r>
          </a:p>
          <a:p>
            <a:endParaRPr lang="en-IN" sz="3200" b="1" dirty="0"/>
          </a:p>
          <a:p>
            <a:r>
              <a:rPr lang="en-IN" sz="3200" b="1" dirty="0"/>
              <a:t>Why Python?</a:t>
            </a:r>
          </a:p>
          <a:p>
            <a:pPr algn="ctr"/>
            <a:endParaRPr lang="en-IN" sz="3200" b="1" dirty="0"/>
          </a:p>
          <a:p>
            <a:r>
              <a:rPr lang="en-IN" sz="3200" b="1" dirty="0"/>
              <a:t>IDE – Kaggle, </a:t>
            </a:r>
            <a:r>
              <a:rPr lang="en-IN" sz="3200" b="1" dirty="0" err="1"/>
              <a:t>Colab</a:t>
            </a:r>
            <a:r>
              <a:rPr lang="en-IN" sz="3200" b="1" dirty="0"/>
              <a:t> Research &amp; Anaconda</a:t>
            </a:r>
          </a:p>
          <a:p>
            <a:endParaRPr lang="en-IN" sz="3200" b="1" dirty="0"/>
          </a:p>
          <a:p>
            <a:r>
              <a:rPr lang="en-IN" sz="3200" b="1" dirty="0"/>
              <a:t>Working with Python</a:t>
            </a:r>
          </a:p>
        </p:txBody>
      </p:sp>
    </p:spTree>
    <p:extLst>
      <p:ext uri="{BB962C8B-B14F-4D97-AF65-F5344CB8AC3E}">
        <p14:creationId xmlns:p14="http://schemas.microsoft.com/office/powerpoint/2010/main" val="38424319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B5FC4A-781D-2885-EC93-3DFBE942F2D9}"/>
              </a:ext>
            </a:extLst>
          </p:cNvPr>
          <p:cNvSpPr txBox="1"/>
          <p:nvPr/>
        </p:nvSpPr>
        <p:spPr>
          <a:xfrm rot="10800000" flipV="1">
            <a:off x="623454" y="2028616"/>
            <a:ext cx="112776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Analytical thinking remains the most sought-after core skill among employers, with </a:t>
            </a:r>
            <a:r>
              <a:rPr lang="en-IN" sz="2800" b="1" dirty="0"/>
              <a:t>seven out of ten companies </a:t>
            </a:r>
            <a:r>
              <a:rPr lang="en-IN" sz="2800" dirty="0"/>
              <a:t>considering it essential in 2025, and AI and big data top the list as the fastest-growing skills. (WEF, </a:t>
            </a:r>
            <a:r>
              <a:rPr lang="en-IN" sz="2800" i="1" dirty="0"/>
              <a:t>Future of Jobs Report 2025</a:t>
            </a:r>
            <a:r>
              <a:rPr lang="en-IN" sz="2800" dirty="0"/>
              <a:t>). </a:t>
            </a:r>
          </a:p>
          <a:p>
            <a:endParaRPr lang="en-IN" sz="3200" dirty="0">
              <a:highlight>
                <a:srgbClr val="FFFF00"/>
              </a:highlight>
            </a:endParaRPr>
          </a:p>
          <a:p>
            <a:r>
              <a:rPr lang="en-IN" sz="3200" dirty="0">
                <a:highlight>
                  <a:srgbClr val="FFFF00"/>
                </a:highlight>
              </a:rPr>
              <a:t>Python is how you </a:t>
            </a:r>
            <a:r>
              <a:rPr lang="en-IN" sz="3200" i="1" dirty="0">
                <a:highlight>
                  <a:srgbClr val="FFFF00"/>
                </a:highlight>
              </a:rPr>
              <a:t>do</a:t>
            </a:r>
            <a:r>
              <a:rPr lang="en-IN" sz="3200" dirty="0">
                <a:highlight>
                  <a:srgbClr val="FFFF00"/>
                </a:highlight>
              </a:rPr>
              <a:t> analytical thinking on data.</a:t>
            </a:r>
            <a:endParaRPr lang="en-US" sz="20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043091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08AFB1-069F-9700-8672-6B923B41289A}"/>
              </a:ext>
            </a:extLst>
          </p:cNvPr>
          <p:cNvSpPr txBox="1"/>
          <p:nvPr/>
        </p:nvSpPr>
        <p:spPr>
          <a:xfrm>
            <a:off x="1870363" y="1690255"/>
            <a:ext cx="8645237" cy="2932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dirty="0"/>
              <a:t>Python is also super-popular among programmers, 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Ref: “The Importance of being earnest(TIOBE) index” 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hlinkClick r:id="rId2"/>
              </a:rPr>
              <a:t>https://www.tiobe.com/tiobe-index/</a:t>
            </a:r>
            <a:endParaRPr lang="en-US" sz="2400" dirty="0"/>
          </a:p>
          <a:p>
            <a:pPr>
              <a:lnSpc>
                <a:spcPct val="20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05245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FD372A-562B-A37F-88F8-7EE89518B527}"/>
              </a:ext>
            </a:extLst>
          </p:cNvPr>
          <p:cNvSpPr txBox="1"/>
          <p:nvPr/>
        </p:nvSpPr>
        <p:spPr>
          <a:xfrm>
            <a:off x="734291" y="1205346"/>
            <a:ext cx="10848109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History of Python </a:t>
            </a:r>
          </a:p>
          <a:p>
            <a:endParaRPr lang="en-US" sz="1800" dirty="0"/>
          </a:p>
          <a:p>
            <a:r>
              <a:rPr lang="en-IN" sz="1800" dirty="0"/>
              <a:t>Python is one of the most popular, high-level, general-purpose programming languages. It was created with a focus on code readability and allows developers to write concepts in </a:t>
            </a:r>
            <a:r>
              <a:rPr lang="en-IN" sz="1800" b="1" dirty="0"/>
              <a:t>fewer lines compared to C++ or Java.</a:t>
            </a:r>
          </a:p>
          <a:p>
            <a:endParaRPr lang="en-IN" sz="1800" dirty="0"/>
          </a:p>
          <a:p>
            <a:endParaRPr lang="en-IN" sz="1800" dirty="0"/>
          </a:p>
          <a:p>
            <a:pPr lvl="0" fontAlgn="base"/>
            <a:r>
              <a:rPr lang="en-IN" sz="1800" b="1" dirty="0"/>
              <a:t>Creator: </a:t>
            </a:r>
            <a:r>
              <a:rPr lang="en-IN" sz="1800" dirty="0"/>
              <a:t>Guido van Rossum</a:t>
            </a:r>
          </a:p>
          <a:p>
            <a:pPr lvl="0" fontAlgn="base"/>
            <a:r>
              <a:rPr lang="en-IN" sz="1800" b="1" dirty="0"/>
              <a:t>Started: </a:t>
            </a:r>
            <a:r>
              <a:rPr lang="en-IN" sz="1800" dirty="0"/>
              <a:t>1989, at Centrum </a:t>
            </a:r>
            <a:r>
              <a:rPr lang="en-IN" sz="1800" dirty="0" err="1"/>
              <a:t>Wiskunde</a:t>
            </a:r>
            <a:r>
              <a:rPr lang="en-IN" sz="1800" dirty="0"/>
              <a:t> &amp; Informatica (CWI), Netherlands</a:t>
            </a:r>
          </a:p>
          <a:p>
            <a:endParaRPr lang="en-IN" sz="1800" dirty="0"/>
          </a:p>
          <a:p>
            <a:endParaRPr lang="en-IN" sz="1800" dirty="0"/>
          </a:p>
          <a:p>
            <a:r>
              <a:rPr lang="en-IN" sz="1800" dirty="0"/>
              <a:t>Named after the BBC comedy series “Monty Python’s Flying Circus”</a:t>
            </a:r>
          </a:p>
          <a:p>
            <a:endParaRPr lang="en-IN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Picture 2" descr="File:Guido van Rossum (6984267183) (cropped).jpg - Wikimedia Commons">
            <a:extLst>
              <a:ext uri="{FF2B5EF4-FFF2-40B4-BE49-F238E27FC236}">
                <a16:creationId xmlns:a16="http://schemas.microsoft.com/office/drawing/2014/main" id="{38A63E87-0CA8-0587-5A95-3CC77C9B4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4847" y="2532174"/>
            <a:ext cx="3132862" cy="4001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6791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3E0A32-2163-202B-4AA2-2EA35A502CE4}"/>
              </a:ext>
            </a:extLst>
          </p:cNvPr>
          <p:cNvSpPr txBox="1"/>
          <p:nvPr/>
        </p:nvSpPr>
        <p:spPr>
          <a:xfrm>
            <a:off x="692728" y="794802"/>
            <a:ext cx="11236036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Integrated Development Environment (IDE) &amp;  Notebooks for business analytics:</a:t>
            </a:r>
          </a:p>
          <a:p>
            <a:endParaRPr lang="en-US" sz="3600" dirty="0"/>
          </a:p>
          <a:p>
            <a:r>
              <a:rPr lang="en-US" sz="3600" dirty="0"/>
              <a:t>They are a software tool that allows analysts to write, test, visualize and debug code, in a single </a:t>
            </a:r>
            <a:r>
              <a:rPr lang="en-IN" sz="3600" dirty="0"/>
              <a:t>narrative document. </a:t>
            </a:r>
          </a:p>
          <a:p>
            <a:endParaRPr lang="en-IN" sz="3600" dirty="0"/>
          </a:p>
          <a:p>
            <a:r>
              <a:rPr lang="en-IN" sz="3600" dirty="0"/>
              <a:t>Examples: </a:t>
            </a:r>
            <a:r>
              <a:rPr lang="en-IN" sz="3600" dirty="0">
                <a:highlight>
                  <a:srgbClr val="FFFF00"/>
                </a:highlight>
              </a:rPr>
              <a:t>Google </a:t>
            </a:r>
            <a:r>
              <a:rPr lang="en-IN" sz="3600" dirty="0" err="1">
                <a:highlight>
                  <a:srgbClr val="FFFF00"/>
                </a:highlight>
              </a:rPr>
              <a:t>Colab</a:t>
            </a:r>
            <a:r>
              <a:rPr lang="en-IN" sz="3600" dirty="0"/>
              <a:t>, </a:t>
            </a:r>
            <a:r>
              <a:rPr lang="en-IN" sz="3600" dirty="0">
                <a:solidFill>
                  <a:srgbClr val="FFC000"/>
                </a:solidFill>
                <a:highlight>
                  <a:srgbClr val="000000"/>
                </a:highlight>
              </a:rPr>
              <a:t>Jupyter Notebooks</a:t>
            </a:r>
            <a:r>
              <a:rPr lang="en-IN" sz="3600" dirty="0"/>
              <a:t>, </a:t>
            </a:r>
            <a:r>
              <a:rPr lang="en-IN" sz="3600" dirty="0">
                <a:highlight>
                  <a:srgbClr val="FFFF00"/>
                </a:highlight>
              </a:rPr>
              <a:t>Databricks</a:t>
            </a:r>
            <a:r>
              <a:rPr lang="en-IN" sz="3600" dirty="0"/>
              <a:t>, Anaconda IDE, VS Code, </a:t>
            </a:r>
            <a:r>
              <a:rPr lang="en-IN" sz="3600" dirty="0">
                <a:highlight>
                  <a:srgbClr val="FFFF00"/>
                </a:highlight>
              </a:rPr>
              <a:t>Kaggle</a:t>
            </a:r>
            <a:r>
              <a:rPr lang="en-IN" sz="3600" dirty="0"/>
              <a:t> and </a:t>
            </a:r>
            <a:r>
              <a:rPr lang="en-IN" sz="3600" dirty="0" err="1"/>
              <a:t>Github</a:t>
            </a:r>
            <a:r>
              <a:rPr lang="en-IN" sz="3600" dirty="0"/>
              <a:t> </a:t>
            </a:r>
            <a:r>
              <a:rPr lang="en-IN" sz="3600" dirty="0" err="1"/>
              <a:t>Codespaces</a:t>
            </a:r>
            <a:r>
              <a:rPr lang="en-IN" sz="3600" dirty="0"/>
              <a:t>.</a:t>
            </a:r>
            <a:endParaRPr lang="en-US" sz="36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434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7C03F2C-85A3-B222-705F-440F657A8A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254339"/>
              </p:ext>
            </p:extLst>
          </p:nvPr>
        </p:nvGraphicFramePr>
        <p:xfrm>
          <a:off x="1108364" y="1288472"/>
          <a:ext cx="10002981" cy="52135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7306">
                  <a:extLst>
                    <a:ext uri="{9D8B030D-6E8A-4147-A177-3AD203B41FA5}">
                      <a16:colId xmlns:a16="http://schemas.microsoft.com/office/drawing/2014/main" val="4213441734"/>
                    </a:ext>
                  </a:extLst>
                </a:gridCol>
                <a:gridCol w="4415680">
                  <a:extLst>
                    <a:ext uri="{9D8B030D-6E8A-4147-A177-3AD203B41FA5}">
                      <a16:colId xmlns:a16="http://schemas.microsoft.com/office/drawing/2014/main" val="2265562255"/>
                    </a:ext>
                  </a:extLst>
                </a:gridCol>
                <a:gridCol w="3979995">
                  <a:extLst>
                    <a:ext uri="{9D8B030D-6E8A-4147-A177-3AD203B41FA5}">
                      <a16:colId xmlns:a16="http://schemas.microsoft.com/office/drawing/2014/main" val="3693338141"/>
                    </a:ext>
                  </a:extLst>
                </a:gridCol>
              </a:tblGrid>
              <a:tr h="93105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 (VS Code, PyCharm, etc.)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Notebooks (Jupyter, Databricks,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Colab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9597345"/>
                  </a:ext>
                </a:extLst>
              </a:tr>
              <a:tr h="66634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Execution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Runs the whole file sequentially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Runs code blocks individually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0245958"/>
                  </a:ext>
                </a:extLst>
              </a:tr>
              <a:tr h="93105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Primary Use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Building apps, APIs, production pipelines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analysis, visualization and experimenting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8370874"/>
                  </a:ext>
                </a:extLst>
              </a:tr>
              <a:tr h="93105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Resets every time you run the script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Keeps variables in memory between cells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1291616"/>
                  </a:ext>
                </a:extLst>
              </a:tr>
              <a:tr h="93105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Excellent for massive, multi-file projects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for short, linear, single-file scripts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6867534"/>
                  </a:ext>
                </a:extLst>
              </a:tr>
              <a:tr h="66634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Bult-in unit testing frameworks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Manual, visual inspection of outputs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7667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5165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0AAB846-D966-9C06-C80F-1FAE6A21D0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9983383"/>
              </p:ext>
            </p:extLst>
          </p:nvPr>
        </p:nvGraphicFramePr>
        <p:xfrm>
          <a:off x="2559771" y="4031673"/>
          <a:ext cx="6639648" cy="2230581"/>
        </p:xfrm>
        <a:graphic>
          <a:graphicData uri="http://schemas.openxmlformats.org/drawingml/2006/table">
            <a:tbl>
              <a:tblPr firstRow="1">
                <a:tableStyleId>{EB344D84-9AFB-497E-A393-DC336BA19D2E}</a:tableStyleId>
              </a:tblPr>
              <a:tblGrid>
                <a:gridCol w="2213216">
                  <a:extLst>
                    <a:ext uri="{9D8B030D-6E8A-4147-A177-3AD203B41FA5}">
                      <a16:colId xmlns:a16="http://schemas.microsoft.com/office/drawing/2014/main" val="3786747386"/>
                    </a:ext>
                  </a:extLst>
                </a:gridCol>
                <a:gridCol w="2213216">
                  <a:extLst>
                    <a:ext uri="{9D8B030D-6E8A-4147-A177-3AD203B41FA5}">
                      <a16:colId xmlns:a16="http://schemas.microsoft.com/office/drawing/2014/main" val="3368635914"/>
                    </a:ext>
                  </a:extLst>
                </a:gridCol>
                <a:gridCol w="2213216">
                  <a:extLst>
                    <a:ext uri="{9D8B030D-6E8A-4147-A177-3AD203B41FA5}">
                      <a16:colId xmlns:a16="http://schemas.microsoft.com/office/drawing/2014/main" val="1949254931"/>
                    </a:ext>
                  </a:extLst>
                </a:gridCol>
              </a:tblGrid>
              <a:tr h="387927">
                <a:tc>
                  <a:txBody>
                    <a:bodyPr/>
                    <a:lstStyle/>
                    <a:p>
                      <a:pPr marL="76200" algn="ctr" fontAlgn="ctr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</a:rPr>
                        <a:t>Type</a:t>
                      </a:r>
                      <a:endParaRPr lang="en-IN" sz="1800" b="1" i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algn="ctr" fontAlgn="ctr">
                        <a:buNone/>
                      </a:pPr>
                      <a:r>
                        <a:rPr lang="en-IN" sz="1800" b="1" dirty="0">
                          <a:solidFill>
                            <a:srgbClr val="1F1F1F"/>
                          </a:solidFill>
                          <a:effectLst/>
                        </a:rPr>
                        <a:t>Meaning</a:t>
                      </a:r>
                      <a:endParaRPr lang="en-IN" sz="1800" b="1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algn="ctr" fontAlgn="ctr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</a:rPr>
                        <a:t>Example</a:t>
                      </a:r>
                      <a:endParaRPr lang="en-IN" sz="1800" b="1" i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2678126"/>
                  </a:ext>
                </a:extLst>
              </a:tr>
              <a:tr h="387927">
                <a:tc>
                  <a:txBody>
                    <a:bodyPr/>
                    <a:lstStyle/>
                    <a:p>
                      <a:pPr marL="76200" algn="ctr" fontAlgn="ctr">
                        <a:buNone/>
                      </a:pPr>
                      <a:r>
                        <a:rPr lang="en-IN" sz="1800" b="0" dirty="0">
                          <a:solidFill>
                            <a:srgbClr val="1F1F1F"/>
                          </a:solidFill>
                          <a:effectLst/>
                        </a:rPr>
                        <a:t>int</a:t>
                      </a:r>
                      <a:endParaRPr lang="en-IN" sz="18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algn="ctr" fontAlgn="ctr">
                        <a:buNone/>
                      </a:pPr>
                      <a:r>
                        <a:rPr lang="en-IN" sz="1800" b="0" dirty="0">
                          <a:solidFill>
                            <a:srgbClr val="1F1F1F"/>
                          </a:solidFill>
                          <a:effectLst/>
                        </a:rPr>
                        <a:t>whole number</a:t>
                      </a:r>
                      <a:endParaRPr lang="en-IN" sz="18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algn="ctr" fontAlgn="ctr">
                        <a:buNone/>
                      </a:pPr>
                      <a:r>
                        <a:rPr lang="en-IN" sz="1800" b="0">
                          <a:solidFill>
                            <a:srgbClr val="1F1F1F"/>
                          </a:solidFill>
                          <a:effectLst/>
                        </a:rPr>
                        <a:t>units_sold = 250</a:t>
                      </a:r>
                      <a:endParaRPr lang="en-IN" sz="1800" b="0" i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3791916"/>
                  </a:ext>
                </a:extLst>
              </a:tr>
              <a:tr h="387927">
                <a:tc>
                  <a:txBody>
                    <a:bodyPr/>
                    <a:lstStyle/>
                    <a:p>
                      <a:pPr marL="76200" algn="ctr" fontAlgn="ctr">
                        <a:buNone/>
                      </a:pPr>
                      <a:r>
                        <a:rPr lang="en-IN" sz="1800" b="0">
                          <a:solidFill>
                            <a:srgbClr val="1F1F1F"/>
                          </a:solidFill>
                          <a:effectLst/>
                        </a:rPr>
                        <a:t>float</a:t>
                      </a:r>
                      <a:endParaRPr lang="en-IN" sz="1800" b="0" i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algn="ctr" fontAlgn="ctr">
                        <a:buNone/>
                      </a:pPr>
                      <a:r>
                        <a:rPr lang="en-IN" sz="1800" b="0" dirty="0">
                          <a:solidFill>
                            <a:srgbClr val="1F1F1F"/>
                          </a:solidFill>
                          <a:effectLst/>
                        </a:rPr>
                        <a:t>decimal number</a:t>
                      </a:r>
                      <a:endParaRPr lang="en-IN" sz="18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algn="ctr" fontAlgn="ctr">
                        <a:buNone/>
                      </a:pPr>
                      <a:r>
                        <a:rPr lang="en-IN" sz="1800" b="0">
                          <a:solidFill>
                            <a:srgbClr val="1F1F1F"/>
                          </a:solidFill>
                          <a:effectLst/>
                        </a:rPr>
                        <a:t>price = 49.99</a:t>
                      </a:r>
                      <a:endParaRPr lang="en-IN" sz="1800" b="0" i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0782429"/>
                  </a:ext>
                </a:extLst>
              </a:tr>
              <a:tr h="387927">
                <a:tc>
                  <a:txBody>
                    <a:bodyPr/>
                    <a:lstStyle/>
                    <a:p>
                      <a:pPr marL="76200" algn="ctr" fontAlgn="ctr">
                        <a:buNone/>
                      </a:pPr>
                      <a:r>
                        <a:rPr lang="en-IN" sz="1800" b="0">
                          <a:solidFill>
                            <a:srgbClr val="1F1F1F"/>
                          </a:solidFill>
                          <a:effectLst/>
                        </a:rPr>
                        <a:t>str</a:t>
                      </a:r>
                      <a:endParaRPr lang="en-IN" sz="1800" b="0" i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algn="ctr" fontAlgn="ctr">
                        <a:buNone/>
                      </a:pPr>
                      <a:r>
                        <a:rPr lang="en-IN" sz="1800" b="0" dirty="0">
                          <a:solidFill>
                            <a:srgbClr val="1F1F1F"/>
                          </a:solidFill>
                          <a:effectLst/>
                        </a:rPr>
                        <a:t>text (in quotes)</a:t>
                      </a:r>
                      <a:endParaRPr lang="en-IN" sz="18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algn="ctr" fontAlgn="ctr">
                        <a:buNone/>
                      </a:pPr>
                      <a:r>
                        <a:rPr lang="en-IN" sz="1800" b="0">
                          <a:solidFill>
                            <a:srgbClr val="1F1F1F"/>
                          </a:solidFill>
                          <a:effectLst/>
                        </a:rPr>
                        <a:t>region = "South"</a:t>
                      </a:r>
                      <a:endParaRPr lang="en-IN" sz="1800" b="0" i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3103738"/>
                  </a:ext>
                </a:extLst>
              </a:tr>
              <a:tr h="678873">
                <a:tc>
                  <a:txBody>
                    <a:bodyPr/>
                    <a:lstStyle/>
                    <a:p>
                      <a:pPr marL="76200" algn="ctr" fontAlgn="ctr">
                        <a:buNone/>
                      </a:pPr>
                      <a:r>
                        <a:rPr lang="en-IN" sz="1800" b="0" dirty="0">
                          <a:solidFill>
                            <a:srgbClr val="1F1F1F"/>
                          </a:solidFill>
                          <a:effectLst/>
                        </a:rPr>
                        <a:t>bool</a:t>
                      </a:r>
                      <a:endParaRPr lang="en-IN" sz="18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algn="ctr" fontAlgn="ctr">
                        <a:buNone/>
                      </a:pPr>
                      <a:r>
                        <a:rPr lang="en-IN" sz="1800" b="0">
                          <a:solidFill>
                            <a:srgbClr val="1F1F1F"/>
                          </a:solidFill>
                          <a:effectLst/>
                        </a:rPr>
                        <a:t>True / False</a:t>
                      </a:r>
                      <a:endParaRPr lang="en-IN" sz="1800" b="0" i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algn="ctr" fontAlgn="ctr">
                        <a:buNone/>
                      </a:pPr>
                      <a:r>
                        <a:rPr lang="en-IN" sz="1800" b="0" dirty="0" err="1">
                          <a:solidFill>
                            <a:srgbClr val="1F1F1F"/>
                          </a:solidFill>
                          <a:effectLst/>
                        </a:rPr>
                        <a:t>is_premium</a:t>
                      </a:r>
                      <a:r>
                        <a:rPr lang="en-IN" sz="1800" b="0" dirty="0">
                          <a:solidFill>
                            <a:srgbClr val="1F1F1F"/>
                          </a:solidFill>
                          <a:effectLst/>
                        </a:rPr>
                        <a:t> = True</a:t>
                      </a:r>
                      <a:endParaRPr lang="en-IN" sz="18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87959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779D420-25A0-FFA0-1925-CB74E39A641C}"/>
              </a:ext>
            </a:extLst>
          </p:cNvPr>
          <p:cNvSpPr txBox="1"/>
          <p:nvPr/>
        </p:nvSpPr>
        <p:spPr>
          <a:xfrm>
            <a:off x="1302326" y="928255"/>
            <a:ext cx="9005455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3200" b="1" i="0" dirty="0">
                <a:solidFill>
                  <a:srgbClr val="1F1F1F"/>
                </a:solidFill>
                <a:effectLst/>
                <a:latin typeface="Google Sans Text"/>
              </a:rPr>
              <a:t>Declaring Variables</a:t>
            </a:r>
          </a:p>
          <a:p>
            <a:pPr indent="0" algn="l">
              <a:lnSpc>
                <a:spcPct val="200000"/>
              </a:lnSpc>
              <a:buNone/>
            </a:pPr>
            <a:r>
              <a:rPr lang="en-IN" sz="2000" b="0" i="0" dirty="0">
                <a:solidFill>
                  <a:srgbClr val="1F1F1F"/>
                </a:solidFill>
                <a:effectLst/>
                <a:latin typeface="Google Sans Text"/>
              </a:rPr>
              <a:t>A </a:t>
            </a:r>
            <a:r>
              <a:rPr lang="en-IN" sz="2000" b="1" i="0" dirty="0">
                <a:solidFill>
                  <a:srgbClr val="1F1F1F"/>
                </a:solidFill>
                <a:effectLst/>
                <a:latin typeface="Google Sans Text"/>
              </a:rPr>
              <a:t>variable</a:t>
            </a:r>
            <a:r>
              <a:rPr lang="en-IN" sz="2000" b="0" i="0" dirty="0">
                <a:solidFill>
                  <a:srgbClr val="1F1F1F"/>
                </a:solidFill>
                <a:effectLst/>
                <a:latin typeface="Google Sans Text"/>
              </a:rPr>
              <a:t> is a labelled box that stores a value so you can reuse it by name.</a:t>
            </a:r>
          </a:p>
          <a:p>
            <a:pPr marL="342900" lvl="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1F1F1F"/>
                </a:solidFill>
                <a:effectLst/>
                <a:latin typeface="Google Sans Text"/>
              </a:rPr>
              <a:t>You </a:t>
            </a:r>
            <a:r>
              <a:rPr lang="en-IN" sz="2000" b="1" i="0" dirty="0">
                <a:solidFill>
                  <a:srgbClr val="1F1F1F"/>
                </a:solidFill>
                <a:effectLst/>
                <a:latin typeface="Google Sans Text"/>
              </a:rPr>
              <a:t>declare</a:t>
            </a:r>
            <a:r>
              <a:rPr lang="en-IN" sz="2000" b="0" i="0" dirty="0">
                <a:solidFill>
                  <a:srgbClr val="1F1F1F"/>
                </a:solidFill>
                <a:effectLst/>
                <a:latin typeface="Google Sans Text"/>
              </a:rPr>
              <a:t> a variable with </a:t>
            </a:r>
            <a:r>
              <a:rPr lang="en-IN" sz="20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IN" sz="2000" b="0" i="0" dirty="0">
                <a:solidFill>
                  <a:srgbClr val="1F1F1F"/>
                </a:solidFill>
                <a:effectLst/>
                <a:latin typeface="Google Sans Text"/>
              </a:rPr>
              <a:t> → </a:t>
            </a:r>
            <a:r>
              <a:rPr lang="en-IN" sz="20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name = value</a:t>
            </a:r>
            <a:endParaRPr lang="en-IN" sz="2000" b="0" i="0" dirty="0">
              <a:solidFill>
                <a:srgbClr val="1F1F1F"/>
              </a:solidFill>
              <a:effectLst/>
              <a:latin typeface="Google Sans Text"/>
            </a:endParaRPr>
          </a:p>
          <a:p>
            <a:pPr marL="342900" lvl="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1F1F1F"/>
                </a:solidFill>
                <a:effectLst/>
                <a:latin typeface="Google Sans Text"/>
              </a:rPr>
              <a:t>The label is on the </a:t>
            </a:r>
            <a:r>
              <a:rPr lang="en-IN" sz="2000" b="1" i="0" dirty="0">
                <a:solidFill>
                  <a:srgbClr val="1F1F1F"/>
                </a:solidFill>
                <a:effectLst/>
                <a:latin typeface="Google Sans Text"/>
              </a:rPr>
              <a:t>left</a:t>
            </a:r>
            <a:r>
              <a:rPr lang="en-IN" sz="2000" b="0" i="0" dirty="0">
                <a:solidFill>
                  <a:srgbClr val="1F1F1F"/>
                </a:solidFill>
                <a:effectLst/>
                <a:latin typeface="Google Sans Text"/>
              </a:rPr>
              <a:t>, the value is on the </a:t>
            </a:r>
            <a:r>
              <a:rPr lang="en-IN" sz="2000" b="1" i="0" dirty="0">
                <a:solidFill>
                  <a:srgbClr val="1F1F1F"/>
                </a:solidFill>
                <a:effectLst/>
                <a:latin typeface="Google Sans Text"/>
              </a:rPr>
              <a:t>right</a:t>
            </a:r>
            <a:r>
              <a:rPr lang="en-IN" sz="2000" b="0" i="0" dirty="0">
                <a:solidFill>
                  <a:srgbClr val="1F1F1F"/>
                </a:solidFill>
                <a:effectLst/>
                <a:latin typeface="Google Sans Text"/>
              </a:rPr>
              <a:t>.</a:t>
            </a:r>
          </a:p>
          <a:p>
            <a:pPr marL="342900" lvl="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1F1F1F"/>
                </a:solidFill>
                <a:effectLst/>
                <a:latin typeface="Google Sans Text"/>
              </a:rPr>
              <a:t>Python figures out the </a:t>
            </a:r>
            <a:r>
              <a:rPr lang="en-IN" sz="2000" b="1" i="0" dirty="0">
                <a:solidFill>
                  <a:srgbClr val="1F1F1F"/>
                </a:solidFill>
                <a:effectLst/>
                <a:latin typeface="Google Sans Text"/>
              </a:rPr>
              <a:t>type</a:t>
            </a:r>
            <a:r>
              <a:rPr lang="en-IN" sz="2000" b="0" i="0" dirty="0">
                <a:solidFill>
                  <a:srgbClr val="1F1F1F"/>
                </a:solidFill>
                <a:effectLst/>
                <a:latin typeface="Google Sans Text"/>
              </a:rPr>
              <a:t> for you (no need to declare it).</a:t>
            </a:r>
            <a:endParaRPr lang="en-IN" sz="2000" dirty="0">
              <a:solidFill>
                <a:srgbClr val="1F1F1F"/>
              </a:solidFill>
              <a:latin typeface="Google Sans Text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endParaRPr lang="en-IN" sz="2000" b="0" i="0" dirty="0">
              <a:solidFill>
                <a:srgbClr val="1F1F1F"/>
              </a:solidFill>
              <a:effectLst/>
              <a:latin typeface="Google Sans Text"/>
            </a:endParaRPr>
          </a:p>
          <a:p>
            <a:pPr lvl="0" algn="l"/>
            <a:endParaRPr lang="en-IN" sz="2000" b="0" i="0" dirty="0">
              <a:solidFill>
                <a:srgbClr val="1F1F1F"/>
              </a:solidFill>
              <a:effectLst/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41062401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9A9CEA0-EA7D-F8CF-B560-1D45925FF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9746" y="1310826"/>
            <a:ext cx="7356763" cy="4775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631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045EFD-489B-53E9-3BDE-A5038ED9FD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3434894"/>
              </p:ext>
            </p:extLst>
          </p:nvPr>
        </p:nvGraphicFramePr>
        <p:xfrm>
          <a:off x="538306" y="3429000"/>
          <a:ext cx="6014894" cy="2926080"/>
        </p:xfrm>
        <a:graphic>
          <a:graphicData uri="http://schemas.openxmlformats.org/drawingml/2006/table">
            <a:tbl>
              <a:tblPr firstRow="1">
                <a:tableStyleId>{69C7853C-536D-4A76-A0AE-DD22124D55A5}</a:tableStyleId>
              </a:tblPr>
              <a:tblGrid>
                <a:gridCol w="2174746">
                  <a:extLst>
                    <a:ext uri="{9D8B030D-6E8A-4147-A177-3AD203B41FA5}">
                      <a16:colId xmlns:a16="http://schemas.microsoft.com/office/drawing/2014/main" val="268841786"/>
                    </a:ext>
                  </a:extLst>
                </a:gridCol>
                <a:gridCol w="3840148">
                  <a:extLst>
                    <a:ext uri="{9D8B030D-6E8A-4147-A177-3AD203B41FA5}">
                      <a16:colId xmlns:a16="http://schemas.microsoft.com/office/drawing/2014/main" val="32443774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6200" algn="ctr" fontAlgn="ctr">
                        <a:buNone/>
                      </a:pPr>
                      <a:r>
                        <a:rPr lang="en-IN" sz="1800" b="1" dirty="0">
                          <a:solidFill>
                            <a:srgbClr val="1F1F1F"/>
                          </a:solidFill>
                          <a:effectLst/>
                        </a:rPr>
                        <a:t>Operator</a:t>
                      </a:r>
                      <a:endParaRPr lang="en-IN" sz="1800" b="1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6200" algn="ctr" fontAlgn="ctr">
                        <a:buNone/>
                      </a:pPr>
                      <a:r>
                        <a:rPr lang="en-IN" sz="1800" b="1" dirty="0">
                          <a:solidFill>
                            <a:srgbClr val="1F1F1F"/>
                          </a:solidFill>
                          <a:effectLst/>
                        </a:rPr>
                        <a:t>Question it asks</a:t>
                      </a:r>
                      <a:endParaRPr lang="en-IN" sz="1800" b="1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4407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6200" algn="ctr" fontAlgn="ctr">
                        <a:buNone/>
                      </a:pPr>
                      <a:r>
                        <a:rPr lang="en-IN" sz="1800" b="0" dirty="0">
                          <a:solidFill>
                            <a:srgbClr val="1F1F1F"/>
                          </a:solidFill>
                          <a:effectLst/>
                        </a:rPr>
                        <a:t>==</a:t>
                      </a:r>
                      <a:endParaRPr lang="en-IN" sz="18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6200" algn="ctr" fontAlgn="ctr">
                        <a:buNone/>
                      </a:pPr>
                      <a:r>
                        <a:rPr lang="en-IN" sz="1800" b="0">
                          <a:solidFill>
                            <a:srgbClr val="1F1F1F"/>
                          </a:solidFill>
                          <a:effectLst/>
                        </a:rPr>
                        <a:t>is equal to?</a:t>
                      </a:r>
                      <a:endParaRPr lang="en-IN" sz="1800" b="0" i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9440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6200" algn="ctr" fontAlgn="ctr">
                        <a:buNone/>
                      </a:pPr>
                      <a:r>
                        <a:rPr lang="en-IN" sz="1800" b="0" dirty="0">
                          <a:solidFill>
                            <a:srgbClr val="1F1F1F"/>
                          </a:solidFill>
                          <a:effectLst/>
                        </a:rPr>
                        <a:t>!=</a:t>
                      </a:r>
                      <a:endParaRPr lang="en-IN" sz="18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6200" algn="ctr" fontAlgn="ctr">
                        <a:buNone/>
                      </a:pPr>
                      <a:r>
                        <a:rPr lang="en-IN" sz="1800" b="0" dirty="0">
                          <a:solidFill>
                            <a:srgbClr val="1F1F1F"/>
                          </a:solidFill>
                          <a:effectLst/>
                        </a:rPr>
                        <a:t>is not equal to?</a:t>
                      </a:r>
                      <a:endParaRPr lang="en-IN" sz="18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9149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6200" algn="ctr" fontAlgn="ctr">
                        <a:buNone/>
                      </a:pPr>
                      <a:r>
                        <a:rPr lang="en-IN" sz="1800" b="0" dirty="0">
                          <a:solidFill>
                            <a:srgbClr val="1F1F1F"/>
                          </a:solidFill>
                          <a:effectLst/>
                        </a:rPr>
                        <a:t>&gt; &lt;</a:t>
                      </a:r>
                      <a:endParaRPr lang="en-IN" sz="18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6200" algn="ctr" fontAlgn="ctr">
                        <a:buNone/>
                      </a:pPr>
                      <a:r>
                        <a:rPr lang="en-IN" sz="1800" b="0" dirty="0">
                          <a:solidFill>
                            <a:srgbClr val="1F1F1F"/>
                          </a:solidFill>
                          <a:effectLst/>
                        </a:rPr>
                        <a:t>greater / less than?</a:t>
                      </a:r>
                      <a:endParaRPr lang="en-IN" sz="18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3506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6200" algn="ctr" fontAlgn="ctr">
                        <a:buNone/>
                      </a:pPr>
                      <a:r>
                        <a:rPr lang="en-IN" sz="1800" b="0" dirty="0">
                          <a:solidFill>
                            <a:srgbClr val="1F1F1F"/>
                          </a:solidFill>
                          <a:effectLst/>
                        </a:rPr>
                        <a:t>&gt;= &lt;=</a:t>
                      </a:r>
                      <a:endParaRPr lang="en-IN" sz="18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6200" algn="ctr" fontAlgn="ctr">
                        <a:buNone/>
                      </a:pPr>
                      <a:r>
                        <a:rPr lang="en-IN" sz="1800" b="0" dirty="0">
                          <a:solidFill>
                            <a:srgbClr val="1F1F1F"/>
                          </a:solidFill>
                          <a:effectLst/>
                        </a:rPr>
                        <a:t>greater-or-equal / less-or-equal?</a:t>
                      </a:r>
                      <a:endParaRPr lang="en-IN" sz="18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7490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6200" algn="ctr" fontAlgn="ctr">
                        <a:buNone/>
                      </a:pPr>
                      <a:r>
                        <a:rPr lang="en-IN" sz="1800" b="0" dirty="0">
                          <a:solidFill>
                            <a:srgbClr val="1F1F1F"/>
                          </a:solidFill>
                          <a:effectLst/>
                        </a:rPr>
                        <a:t>and</a:t>
                      </a:r>
                      <a:endParaRPr lang="en-IN" sz="18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6200" algn="ctr" fontAlgn="ctr">
                        <a:buNone/>
                      </a:pPr>
                      <a:r>
                        <a:rPr lang="en-IN" sz="1800" b="0">
                          <a:solidFill>
                            <a:srgbClr val="1F1F1F"/>
                          </a:solidFill>
                          <a:effectLst/>
                        </a:rPr>
                        <a:t>are </a:t>
                      </a: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</a:rPr>
                        <a:t>both</a:t>
                      </a:r>
                      <a:r>
                        <a:rPr lang="en-IN" sz="1800" b="0">
                          <a:solidFill>
                            <a:srgbClr val="1F1F1F"/>
                          </a:solidFill>
                          <a:effectLst/>
                        </a:rPr>
                        <a:t> true?</a:t>
                      </a:r>
                      <a:endParaRPr lang="en-IN" sz="1800" b="0" i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42985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6200" algn="ctr" fontAlgn="ctr">
                        <a:buNone/>
                      </a:pPr>
                      <a:r>
                        <a:rPr lang="en-IN" sz="1800" b="0" dirty="0">
                          <a:solidFill>
                            <a:srgbClr val="1F1F1F"/>
                          </a:solidFill>
                          <a:effectLst/>
                        </a:rPr>
                        <a:t>or</a:t>
                      </a:r>
                      <a:endParaRPr lang="en-IN" sz="18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6200" algn="ctr" fontAlgn="ctr">
                        <a:buNone/>
                      </a:pPr>
                      <a:r>
                        <a:rPr lang="en-IN" sz="1800" b="0" dirty="0">
                          <a:solidFill>
                            <a:srgbClr val="1F1F1F"/>
                          </a:solidFill>
                          <a:effectLst/>
                        </a:rPr>
                        <a:t>is </a:t>
                      </a:r>
                      <a:r>
                        <a:rPr lang="en-IN" sz="1800" b="1" dirty="0">
                          <a:solidFill>
                            <a:srgbClr val="1F1F1F"/>
                          </a:solidFill>
                          <a:effectLst/>
                        </a:rPr>
                        <a:t>at least one</a:t>
                      </a:r>
                      <a:r>
                        <a:rPr lang="en-IN" sz="1800" b="0" dirty="0">
                          <a:solidFill>
                            <a:srgbClr val="1F1F1F"/>
                          </a:solidFill>
                          <a:effectLst/>
                        </a:rPr>
                        <a:t> true?</a:t>
                      </a:r>
                      <a:endParaRPr lang="en-IN" sz="18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6499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6200" algn="ctr" fontAlgn="ctr">
                        <a:buNone/>
                      </a:pPr>
                      <a:r>
                        <a:rPr lang="en-IN" sz="1800" b="0" dirty="0">
                          <a:solidFill>
                            <a:srgbClr val="1F1F1F"/>
                          </a:solidFill>
                          <a:effectLst/>
                        </a:rPr>
                        <a:t>not</a:t>
                      </a:r>
                      <a:endParaRPr lang="en-IN" sz="18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6200" algn="ctr" fontAlgn="ctr">
                        <a:buNone/>
                      </a:pPr>
                      <a:r>
                        <a:rPr lang="en-IN" sz="1800" b="0" dirty="0">
                          <a:solidFill>
                            <a:srgbClr val="1F1F1F"/>
                          </a:solidFill>
                          <a:effectLst/>
                        </a:rPr>
                        <a:t>flip true ↔ false</a:t>
                      </a:r>
                      <a:endParaRPr lang="en-IN" sz="18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484779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15EC336-9F26-4CDC-8F60-78C52EB03024}"/>
              </a:ext>
            </a:extLst>
          </p:cNvPr>
          <p:cNvSpPr txBox="1"/>
          <p:nvPr/>
        </p:nvSpPr>
        <p:spPr>
          <a:xfrm>
            <a:off x="538306" y="927694"/>
            <a:ext cx="778827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3200" b="0" i="0" dirty="0">
                <a:solidFill>
                  <a:srgbClr val="1F1F1F"/>
                </a:solidFill>
                <a:effectLst/>
                <a:latin typeface="Google Sans Text"/>
              </a:rPr>
              <a:t>Conditional (Boolean) Variables</a:t>
            </a:r>
          </a:p>
          <a:p>
            <a:pPr indent="0" algn="l">
              <a:buNone/>
            </a:pPr>
            <a:r>
              <a:rPr lang="en-IN" sz="2000" b="0" i="0" dirty="0">
                <a:solidFill>
                  <a:srgbClr val="1F1F1F"/>
                </a:solidFill>
                <a:effectLst/>
                <a:latin typeface="Google Sans Text"/>
              </a:rPr>
              <a:t>A </a:t>
            </a:r>
            <a:r>
              <a:rPr lang="en-IN" sz="2000" b="1" i="0" dirty="0">
                <a:solidFill>
                  <a:srgbClr val="1F1F1F"/>
                </a:solidFill>
                <a:effectLst/>
                <a:latin typeface="Google Sans Text"/>
              </a:rPr>
              <a:t>Boolean variable</a:t>
            </a:r>
            <a:r>
              <a:rPr lang="en-IN" sz="2000" b="0" i="0" dirty="0">
                <a:solidFill>
                  <a:srgbClr val="1F1F1F"/>
                </a:solidFill>
                <a:effectLst/>
                <a:latin typeface="Google Sans Text"/>
              </a:rPr>
              <a:t> holds only one of two values: </a:t>
            </a:r>
            <a:r>
              <a:rPr lang="en-IN" sz="20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True</a:t>
            </a:r>
            <a:r>
              <a:rPr lang="en-IN" sz="2000" b="0" i="0" dirty="0">
                <a:solidFill>
                  <a:srgbClr val="1F1F1F"/>
                </a:solidFill>
                <a:effectLst/>
                <a:latin typeface="Google Sans Text"/>
              </a:rPr>
              <a:t> or </a:t>
            </a:r>
            <a:r>
              <a:rPr lang="en-IN" sz="20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False</a:t>
            </a:r>
            <a:r>
              <a:rPr lang="en-IN" sz="2000" b="0" i="0" dirty="0">
                <a:solidFill>
                  <a:srgbClr val="1F1F1F"/>
                </a:solidFill>
                <a:effectLst/>
                <a:latin typeface="Google Sans Text"/>
              </a:rPr>
              <a:t>.</a:t>
            </a:r>
          </a:p>
          <a:p>
            <a:pPr indent="0" algn="l">
              <a:buNone/>
            </a:pPr>
            <a:r>
              <a:rPr lang="en-IN" sz="2000" b="0" i="0" dirty="0">
                <a:solidFill>
                  <a:srgbClr val="1F1F1F"/>
                </a:solidFill>
                <a:effectLst/>
                <a:latin typeface="Google Sans Text"/>
              </a:rPr>
              <a:t>They usually come from a </a:t>
            </a:r>
            <a:r>
              <a:rPr lang="en-IN" sz="2000" b="1" i="0" dirty="0">
                <a:solidFill>
                  <a:srgbClr val="1F1F1F"/>
                </a:solidFill>
                <a:effectLst/>
                <a:latin typeface="Google Sans Text"/>
              </a:rPr>
              <a:t>comparison</a:t>
            </a:r>
            <a:r>
              <a:rPr lang="en-IN" sz="2000" b="0" i="0" dirty="0">
                <a:solidFill>
                  <a:srgbClr val="1F1F1F"/>
                </a:solidFill>
                <a:effectLst/>
                <a:latin typeface="Google Sans Text"/>
              </a:rPr>
              <a:t> — a question Python answers with yes/no.</a:t>
            </a:r>
          </a:p>
          <a:p>
            <a:pPr indent="0" algn="l">
              <a:buNone/>
            </a:pPr>
            <a:r>
              <a:rPr lang="en-IN" sz="2000" b="0" i="0" dirty="0">
                <a:solidFill>
                  <a:srgbClr val="1F1F1F"/>
                </a:solidFill>
                <a:effectLst/>
                <a:latin typeface="Google Sans Text"/>
              </a:rPr>
              <a:t>The result of a comparison is a Boolean value you can </a:t>
            </a:r>
            <a:r>
              <a:rPr lang="en-IN" sz="2000" b="1" i="0" dirty="0">
                <a:solidFill>
                  <a:srgbClr val="1F1F1F"/>
                </a:solidFill>
                <a:effectLst/>
                <a:latin typeface="Google Sans Text"/>
              </a:rPr>
              <a:t>store in a variable</a:t>
            </a:r>
            <a:r>
              <a:rPr lang="en-IN" sz="2000" b="0" i="0" dirty="0">
                <a:solidFill>
                  <a:srgbClr val="1F1F1F"/>
                </a:solidFill>
                <a:effectLst/>
                <a:latin typeface="Google Sans Text"/>
              </a:rPr>
              <a:t> and reuse.</a:t>
            </a:r>
          </a:p>
        </p:txBody>
      </p:sp>
      <p:pic>
        <p:nvPicPr>
          <p:cNvPr id="5" name="Picture 4" descr="Boolean Logic: It's Funny Because It's True · ProgrammerHumor.io">
            <a:extLst>
              <a:ext uri="{FF2B5EF4-FFF2-40B4-BE49-F238E27FC236}">
                <a16:creationId xmlns:a16="http://schemas.microsoft.com/office/drawing/2014/main" id="{210F0DA1-3AD1-54F8-C8BF-FF70BD7C8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4411" y="2549236"/>
            <a:ext cx="3330298" cy="3747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8140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5 Best Funny Python Programming Memes">
            <a:extLst>
              <a:ext uri="{FF2B5EF4-FFF2-40B4-BE49-F238E27FC236}">
                <a16:creationId xmlns:a16="http://schemas.microsoft.com/office/drawing/2014/main" id="{E1A7F1CF-4F5D-830C-DC55-DB83C3FDE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691" y="1069109"/>
            <a:ext cx="4216400" cy="508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4C828A1-9BDD-4003-C76D-629775305F63}"/>
              </a:ext>
            </a:extLst>
          </p:cNvPr>
          <p:cNvSpPr txBox="1"/>
          <p:nvPr/>
        </p:nvSpPr>
        <p:spPr>
          <a:xfrm>
            <a:off x="5541816" y="639909"/>
            <a:ext cx="6400801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3200" b="1" i="0" dirty="0">
                <a:solidFill>
                  <a:srgbClr val="1F1F1F"/>
                </a:solidFill>
                <a:effectLst/>
                <a:latin typeface="Google Sans Text"/>
              </a:rPr>
              <a:t>Control Flow Statements</a:t>
            </a:r>
          </a:p>
          <a:p>
            <a:pPr indent="0" algn="l">
              <a:buNone/>
            </a:pPr>
            <a:endParaRPr lang="en-IN" sz="3200" b="1" i="0" dirty="0">
              <a:solidFill>
                <a:srgbClr val="1F1F1F"/>
              </a:solidFill>
              <a:effectLst/>
              <a:latin typeface="Google Sans Text"/>
            </a:endParaRPr>
          </a:p>
          <a:p>
            <a:pPr indent="0" algn="l">
              <a:buNone/>
            </a:pPr>
            <a:r>
              <a:rPr lang="en-IN" sz="2400" b="0" i="0" dirty="0">
                <a:solidFill>
                  <a:srgbClr val="1F1F1F"/>
                </a:solidFill>
                <a:effectLst/>
                <a:latin typeface="Google Sans Text"/>
              </a:rPr>
              <a:t>Control flow lets your code </a:t>
            </a:r>
            <a:r>
              <a:rPr lang="en-IN" sz="2400" b="1" i="0" dirty="0">
                <a:solidFill>
                  <a:srgbClr val="1F1F1F"/>
                </a:solidFill>
                <a:effectLst/>
                <a:latin typeface="Google Sans Text"/>
              </a:rPr>
              <a:t>make decisions</a:t>
            </a:r>
            <a:r>
              <a:rPr lang="en-IN" sz="2400" b="0" i="0" dirty="0">
                <a:solidFill>
                  <a:srgbClr val="1F1F1F"/>
                </a:solidFill>
                <a:effectLst/>
                <a:latin typeface="Google Sans Text"/>
              </a:rPr>
              <a:t> and </a:t>
            </a:r>
            <a:r>
              <a:rPr lang="en-IN" sz="2400" b="1" i="0" dirty="0">
                <a:solidFill>
                  <a:srgbClr val="1F1F1F"/>
                </a:solidFill>
                <a:effectLst/>
                <a:latin typeface="Google Sans Text"/>
              </a:rPr>
              <a:t>repeat work</a:t>
            </a:r>
            <a:r>
              <a:rPr lang="en-IN" sz="2400" b="0" i="0" dirty="0">
                <a:solidFill>
                  <a:srgbClr val="1F1F1F"/>
                </a:solidFill>
                <a:effectLst/>
                <a:latin typeface="Google Sans Text"/>
              </a:rPr>
              <a:t> — the core of any business rule.</a:t>
            </a:r>
          </a:p>
          <a:p>
            <a:pPr indent="0" algn="l">
              <a:buNone/>
            </a:pPr>
            <a:r>
              <a:rPr lang="en-IN" sz="2400" b="1" i="0" dirty="0">
                <a:solidFill>
                  <a:srgbClr val="FF0000"/>
                </a:solidFill>
                <a:effectLst/>
                <a:latin typeface="Google Sans Text"/>
              </a:rPr>
              <a:t>(a) </a:t>
            </a:r>
            <a:r>
              <a:rPr lang="en-IN" sz="24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if / </a:t>
            </a:r>
            <a:r>
              <a:rPr lang="en-IN" sz="2400" b="1" i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elif</a:t>
            </a:r>
            <a:r>
              <a:rPr lang="en-IN" sz="24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/ else</a:t>
            </a:r>
            <a:r>
              <a:rPr lang="en-IN" sz="2400" b="1" i="0" dirty="0">
                <a:solidFill>
                  <a:srgbClr val="FF0000"/>
                </a:solidFill>
                <a:effectLst/>
                <a:latin typeface="Google Sans Text"/>
              </a:rPr>
              <a:t> </a:t>
            </a:r>
            <a:r>
              <a:rPr lang="en-IN" sz="2400" b="1" i="0" dirty="0">
                <a:solidFill>
                  <a:srgbClr val="1F1F1F"/>
                </a:solidFill>
                <a:effectLst/>
                <a:latin typeface="Google Sans Text"/>
              </a:rPr>
              <a:t>— take a different path depending on a condition.</a:t>
            </a:r>
            <a:r>
              <a:rPr lang="en-IN" sz="2400" b="0" i="0" dirty="0">
                <a:solidFill>
                  <a:srgbClr val="1F1F1F"/>
                </a:solidFill>
                <a:effectLst/>
                <a:latin typeface="Google Sans Text"/>
              </a:rPr>
              <a:t> </a:t>
            </a:r>
          </a:p>
          <a:p>
            <a:pPr indent="0" algn="l">
              <a:buNone/>
            </a:pPr>
            <a:r>
              <a:rPr lang="en-IN" sz="2400" b="1" i="0" dirty="0">
                <a:solidFill>
                  <a:schemeClr val="accent2">
                    <a:lumMod val="75000"/>
                  </a:schemeClr>
                </a:solidFill>
                <a:effectLst/>
                <a:latin typeface="Google Sans Text"/>
              </a:rPr>
              <a:t>(b) </a:t>
            </a:r>
            <a:r>
              <a:rPr lang="en-IN" sz="2400" b="1" i="0" dirty="0">
                <a:solidFill>
                  <a:schemeClr val="accent2">
                    <a:lumMod val="75000"/>
                  </a:schemeClr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IN" sz="2400" b="1" i="0" dirty="0">
                <a:solidFill>
                  <a:schemeClr val="accent2">
                    <a:lumMod val="75000"/>
                  </a:schemeClr>
                </a:solidFill>
                <a:effectLst/>
                <a:latin typeface="Google Sans Text"/>
              </a:rPr>
              <a:t> loop </a:t>
            </a:r>
            <a:r>
              <a:rPr lang="en-IN" sz="2400" b="1" i="0" dirty="0">
                <a:solidFill>
                  <a:srgbClr val="1F1F1F"/>
                </a:solidFill>
                <a:effectLst/>
                <a:latin typeface="Google Sans Text"/>
              </a:rPr>
              <a:t>— do something once for each item in a group.</a:t>
            </a:r>
            <a:r>
              <a:rPr lang="en-IN" sz="2400" b="0" i="0" dirty="0">
                <a:solidFill>
                  <a:srgbClr val="1F1F1F"/>
                </a:solidFill>
                <a:effectLst/>
                <a:latin typeface="Google Sans Text"/>
              </a:rPr>
              <a:t> </a:t>
            </a:r>
          </a:p>
          <a:p>
            <a:pPr indent="0" algn="l">
              <a:buNone/>
            </a:pPr>
            <a:r>
              <a:rPr lang="en-IN" sz="2400" b="1" i="0" dirty="0">
                <a:solidFill>
                  <a:schemeClr val="accent5">
                    <a:lumMod val="75000"/>
                  </a:schemeClr>
                </a:solidFill>
                <a:effectLst/>
                <a:latin typeface="Google Sans Text"/>
              </a:rPr>
              <a:t>(c) </a:t>
            </a:r>
            <a:r>
              <a:rPr lang="en-IN" sz="2400" b="1" i="0" dirty="0">
                <a:solidFill>
                  <a:schemeClr val="accent5">
                    <a:lumMod val="75000"/>
                  </a:schemeClr>
                </a:solidFill>
                <a:effectLst/>
                <a:latin typeface="Courier New" panose="02070309020205020404" pitchFamily="49" charset="0"/>
              </a:rPr>
              <a:t>while</a:t>
            </a:r>
            <a:r>
              <a:rPr lang="en-IN" sz="2400" b="1" i="0" dirty="0">
                <a:solidFill>
                  <a:schemeClr val="accent5">
                    <a:lumMod val="75000"/>
                  </a:schemeClr>
                </a:solidFill>
                <a:effectLst/>
                <a:latin typeface="Google Sans Text"/>
              </a:rPr>
              <a:t> loop </a:t>
            </a:r>
            <a:r>
              <a:rPr lang="en-IN" sz="2400" b="1" i="0" dirty="0">
                <a:solidFill>
                  <a:srgbClr val="1F1F1F"/>
                </a:solidFill>
                <a:effectLst/>
                <a:latin typeface="Google Sans Text"/>
              </a:rPr>
              <a:t>— keep going until a condition stops being true.</a:t>
            </a:r>
            <a:endParaRPr lang="en-IN" sz="2400" b="0" i="0" dirty="0">
              <a:solidFill>
                <a:srgbClr val="1F1F1F"/>
              </a:solidFill>
              <a:effectLst/>
              <a:latin typeface="Google Sans Text"/>
            </a:endParaRPr>
          </a:p>
          <a:p>
            <a:pPr indent="0" algn="l">
              <a:buNone/>
            </a:pPr>
            <a:r>
              <a:rPr lang="en-IN" sz="2400" b="0" i="0" dirty="0">
                <a:solidFill>
                  <a:srgbClr val="1F1F1F"/>
                </a:solidFill>
                <a:effectLst/>
                <a:latin typeface="Google Sans Text"/>
              </a:rPr>
              <a:t>⚠️ </a:t>
            </a:r>
            <a:r>
              <a:rPr lang="en-IN" sz="2400" b="1" i="0" dirty="0">
                <a:solidFill>
                  <a:srgbClr val="1F1F1F"/>
                </a:solidFill>
                <a:effectLst/>
                <a:latin typeface="Google Sans Text"/>
              </a:rPr>
              <a:t>Indentation (the spaces) is not decoration — it is the grammar.</a:t>
            </a:r>
            <a:r>
              <a:rPr lang="en-IN" sz="2400" b="0" i="0" dirty="0">
                <a:solidFill>
                  <a:srgbClr val="1F1F1F"/>
                </a:solidFill>
                <a:effectLst/>
                <a:latin typeface="Google Sans Text"/>
              </a:rPr>
              <a:t> The indented lines are the ones that belong "inside" the decision or loop.</a:t>
            </a:r>
          </a:p>
        </p:txBody>
      </p:sp>
    </p:spTree>
    <p:extLst>
      <p:ext uri="{BB962C8B-B14F-4D97-AF65-F5344CB8AC3E}">
        <p14:creationId xmlns:p14="http://schemas.microsoft.com/office/powerpoint/2010/main" val="26924037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087DA75-21E3-20B4-942A-FEBD237E40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9357070"/>
              </p:ext>
            </p:extLst>
          </p:nvPr>
        </p:nvGraphicFramePr>
        <p:xfrm>
          <a:off x="2147452" y="2479965"/>
          <a:ext cx="7703129" cy="3310692"/>
        </p:xfrm>
        <a:graphic>
          <a:graphicData uri="http://schemas.openxmlformats.org/drawingml/2006/table">
            <a:tbl>
              <a:tblPr firstRow="1">
                <a:tableStyleId>{69C7853C-536D-4A76-A0AE-DD22124D55A5}</a:tableStyleId>
              </a:tblPr>
              <a:tblGrid>
                <a:gridCol w="1925782">
                  <a:extLst>
                    <a:ext uri="{9D8B030D-6E8A-4147-A177-3AD203B41FA5}">
                      <a16:colId xmlns:a16="http://schemas.microsoft.com/office/drawing/2014/main" val="782741559"/>
                    </a:ext>
                  </a:extLst>
                </a:gridCol>
                <a:gridCol w="1925782">
                  <a:extLst>
                    <a:ext uri="{9D8B030D-6E8A-4147-A177-3AD203B41FA5}">
                      <a16:colId xmlns:a16="http://schemas.microsoft.com/office/drawing/2014/main" val="2340769987"/>
                    </a:ext>
                  </a:extLst>
                </a:gridCol>
                <a:gridCol w="2296266">
                  <a:extLst>
                    <a:ext uri="{9D8B030D-6E8A-4147-A177-3AD203B41FA5}">
                      <a16:colId xmlns:a16="http://schemas.microsoft.com/office/drawing/2014/main" val="1168873009"/>
                    </a:ext>
                  </a:extLst>
                </a:gridCol>
                <a:gridCol w="1555299">
                  <a:extLst>
                    <a:ext uri="{9D8B030D-6E8A-4147-A177-3AD203B41FA5}">
                      <a16:colId xmlns:a16="http://schemas.microsoft.com/office/drawing/2014/main" val="1868189986"/>
                    </a:ext>
                  </a:extLst>
                </a:gridCol>
              </a:tblGrid>
              <a:tr h="499095">
                <a:tc>
                  <a:txBody>
                    <a:bodyPr/>
                    <a:lstStyle/>
                    <a:p>
                      <a:pPr marL="76200" algn="ctr" fontAlgn="ctr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</a:rPr>
                        <a:t>Collection</a:t>
                      </a:r>
                      <a:endParaRPr lang="en-IN" sz="1400" b="1" i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6200" algn="ctr" fontAlgn="ctr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</a:rPr>
                        <a:t>Looks like</a:t>
                      </a:r>
                      <a:endParaRPr lang="en-IN" sz="1400" b="1" i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6200" algn="ctr" fontAlgn="ctr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</a:rPr>
                        <a:t>Use it when…</a:t>
                      </a:r>
                      <a:endParaRPr lang="en-IN" sz="1400" b="1" i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6200" algn="ctr" fontAlgn="ctr"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</a:rPr>
                        <a:t>Changeable?</a:t>
                      </a:r>
                      <a:endParaRPr lang="en-IN" sz="1400" b="1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4494589"/>
                  </a:ext>
                </a:extLst>
              </a:tr>
              <a:tr h="590136">
                <a:tc>
                  <a:txBody>
                    <a:bodyPr/>
                    <a:lstStyle/>
                    <a:p>
                      <a:pPr marL="76200" algn="ctr" fontAlgn="ctr"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</a:rPr>
                        <a:t>List</a:t>
                      </a:r>
                      <a:endParaRPr lang="en-IN" sz="14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6200" algn="ctr" fontAlgn="ctr">
                        <a:buNone/>
                      </a:pPr>
                      <a:r>
                        <a:rPr lang="en-IN" sz="1400" b="0" dirty="0">
                          <a:solidFill>
                            <a:srgbClr val="1F1F1F"/>
                          </a:solidFill>
                          <a:effectLst/>
                        </a:rPr>
                        <a:t>[10, 20, 30]</a:t>
                      </a:r>
                      <a:endParaRPr lang="en-IN" sz="14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6200" algn="ctr" fontAlgn="ctr">
                        <a:buNone/>
                      </a:pPr>
                      <a:r>
                        <a:rPr lang="en-IN" sz="1400" b="0" dirty="0">
                          <a:solidFill>
                            <a:srgbClr val="1F1F1F"/>
                          </a:solidFill>
                          <a:effectLst/>
                        </a:rPr>
                        <a:t>ordered items you may edit</a:t>
                      </a:r>
                      <a:endParaRPr lang="en-IN" sz="14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6200" algn="ctr" fontAlgn="ctr">
                        <a:buNone/>
                      </a:pPr>
                      <a:r>
                        <a:rPr lang="en-IN" sz="1400" b="0" dirty="0">
                          <a:solidFill>
                            <a:srgbClr val="1F1F1F"/>
                          </a:solidFill>
                          <a:effectLst/>
                        </a:rPr>
                        <a:t>Yes</a:t>
                      </a:r>
                      <a:endParaRPr lang="en-IN" sz="14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475239"/>
                  </a:ext>
                </a:extLst>
              </a:tr>
              <a:tr h="784246">
                <a:tc>
                  <a:txBody>
                    <a:bodyPr/>
                    <a:lstStyle/>
                    <a:p>
                      <a:pPr marL="76200" algn="ctr" fontAlgn="ctr"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</a:rPr>
                        <a:t>Tuple</a:t>
                      </a:r>
                      <a:endParaRPr lang="en-IN" sz="14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6200" algn="ctr" fontAlgn="ctr">
                        <a:buNone/>
                      </a:pPr>
                      <a:r>
                        <a:rPr lang="en-IN" sz="1400" b="0" dirty="0">
                          <a:solidFill>
                            <a:srgbClr val="1F1F1F"/>
                          </a:solidFill>
                          <a:effectLst/>
                        </a:rPr>
                        <a:t>(19.0, 72.8)</a:t>
                      </a:r>
                      <a:endParaRPr lang="en-IN" sz="14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6200" algn="ctr" fontAlgn="ctr">
                        <a:buNone/>
                      </a:pPr>
                      <a:r>
                        <a:rPr lang="en-IN" sz="1400" b="0" dirty="0">
                          <a:solidFill>
                            <a:srgbClr val="1F1F1F"/>
                          </a:solidFill>
                          <a:effectLst/>
                        </a:rPr>
                        <a:t>fixed pair/record that must not change</a:t>
                      </a:r>
                      <a:endParaRPr lang="en-IN" sz="14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6200" algn="ctr" fontAlgn="ctr">
                        <a:buNone/>
                      </a:pPr>
                      <a:r>
                        <a:rPr lang="en-IN" sz="1400" b="0" dirty="0">
                          <a:solidFill>
                            <a:srgbClr val="1F1F1F"/>
                          </a:solidFill>
                          <a:effectLst/>
                        </a:rPr>
                        <a:t>No</a:t>
                      </a:r>
                      <a:endParaRPr lang="en-IN" sz="14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1176870"/>
                  </a:ext>
                </a:extLst>
              </a:tr>
              <a:tr h="639016">
                <a:tc>
                  <a:txBody>
                    <a:bodyPr/>
                    <a:lstStyle/>
                    <a:p>
                      <a:pPr marL="76200" algn="ctr" fontAlgn="ctr"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</a:rPr>
                        <a:t>Dictionary</a:t>
                      </a:r>
                      <a:endParaRPr lang="en-IN" sz="14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6200" algn="ctr" fontAlgn="ctr">
                        <a:buNone/>
                      </a:pPr>
                      <a:r>
                        <a:rPr lang="en-IN" sz="1400" b="0" dirty="0">
                          <a:solidFill>
                            <a:srgbClr val="1F1F1F"/>
                          </a:solidFill>
                          <a:effectLst/>
                        </a:rPr>
                        <a:t>{"key": value}</a:t>
                      </a:r>
                      <a:endParaRPr lang="en-IN" sz="14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6200" algn="ctr" fontAlgn="ctr">
                        <a:buNone/>
                      </a:pPr>
                      <a:r>
                        <a:rPr lang="en-IN" sz="1400" b="0" dirty="0">
                          <a:solidFill>
                            <a:srgbClr val="1F1F1F"/>
                          </a:solidFill>
                          <a:effectLst/>
                        </a:rPr>
                        <a:t>look up a value by a label</a:t>
                      </a:r>
                      <a:endParaRPr lang="en-IN" sz="14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6200" algn="ctr" fontAlgn="ctr">
                        <a:buNone/>
                      </a:pPr>
                      <a:r>
                        <a:rPr lang="en-IN" sz="1400" b="0" dirty="0">
                          <a:solidFill>
                            <a:srgbClr val="1F1F1F"/>
                          </a:solidFill>
                          <a:effectLst/>
                        </a:rPr>
                        <a:t>Yes</a:t>
                      </a:r>
                      <a:endParaRPr lang="en-IN" sz="14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345786"/>
                  </a:ext>
                </a:extLst>
              </a:tr>
              <a:tr h="798199">
                <a:tc>
                  <a:txBody>
                    <a:bodyPr/>
                    <a:lstStyle/>
                    <a:p>
                      <a:pPr marL="76200" algn="ctr" fontAlgn="ctr"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</a:rPr>
                        <a:t>Set</a:t>
                      </a:r>
                      <a:endParaRPr lang="en-IN" sz="14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6200" algn="ctr" fontAlgn="ctr">
                        <a:buNone/>
                      </a:pPr>
                      <a:r>
                        <a:rPr lang="en-IN" sz="1400" b="0" dirty="0">
                          <a:solidFill>
                            <a:srgbClr val="1F1F1F"/>
                          </a:solidFill>
                          <a:effectLst/>
                        </a:rPr>
                        <a:t>{"A", "B"}</a:t>
                      </a:r>
                      <a:endParaRPr lang="en-IN" sz="14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6200" algn="ctr" fontAlgn="ctr">
                        <a:buNone/>
                      </a:pPr>
                      <a:r>
                        <a:rPr lang="en-IN" sz="1400" b="0" dirty="0">
                          <a:solidFill>
                            <a:srgbClr val="1F1F1F"/>
                          </a:solidFill>
                          <a:effectLst/>
                        </a:rPr>
                        <a:t>unique items, no duplicates</a:t>
                      </a:r>
                      <a:endParaRPr lang="en-IN" sz="14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6200" algn="ctr" fontAlgn="ctr">
                        <a:buNone/>
                      </a:pPr>
                      <a:r>
                        <a:rPr lang="en-IN" sz="1400" b="0" dirty="0">
                          <a:solidFill>
                            <a:srgbClr val="1F1F1F"/>
                          </a:solidFill>
                          <a:effectLst/>
                        </a:rPr>
                        <a:t>Yes</a:t>
                      </a:r>
                      <a:endParaRPr lang="en-IN" sz="14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303044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F196784-6203-ED51-A19E-01C8E39E1CDC}"/>
              </a:ext>
            </a:extLst>
          </p:cNvPr>
          <p:cNvSpPr txBox="1"/>
          <p:nvPr/>
        </p:nvSpPr>
        <p:spPr>
          <a:xfrm>
            <a:off x="940089" y="1018446"/>
            <a:ext cx="87580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3200" b="0" i="0" dirty="0">
                <a:solidFill>
                  <a:srgbClr val="1F1F1F"/>
                </a:solidFill>
                <a:effectLst/>
                <a:latin typeface="Google Sans Text"/>
              </a:rPr>
              <a:t>Collections</a:t>
            </a:r>
          </a:p>
          <a:p>
            <a:pPr indent="0" algn="l">
              <a:buNone/>
            </a:pPr>
            <a:r>
              <a:rPr lang="en-IN" sz="2000" b="0" i="0" dirty="0">
                <a:solidFill>
                  <a:srgbClr val="1F1F1F"/>
                </a:solidFill>
                <a:effectLst/>
                <a:latin typeface="Google Sans Text"/>
              </a:rPr>
              <a:t>A </a:t>
            </a:r>
            <a:r>
              <a:rPr lang="en-IN" sz="2000" b="1" i="0" dirty="0">
                <a:solidFill>
                  <a:srgbClr val="1F1F1F"/>
                </a:solidFill>
                <a:effectLst/>
                <a:latin typeface="Google Sans Text"/>
              </a:rPr>
              <a:t>collection</a:t>
            </a:r>
            <a:r>
              <a:rPr lang="en-IN" sz="2000" b="0" i="0" dirty="0">
                <a:solidFill>
                  <a:srgbClr val="1F1F1F"/>
                </a:solidFill>
                <a:effectLst/>
                <a:latin typeface="Google Sans Text"/>
              </a:rPr>
              <a:t> holds many values in one variable. The four you will use most:</a:t>
            </a:r>
          </a:p>
          <a:p>
            <a:pPr indent="0" algn="l">
              <a:buNone/>
            </a:pPr>
            <a:r>
              <a:rPr lang="en-IN" sz="2000" b="0" i="0" dirty="0">
                <a:solidFill>
                  <a:srgbClr val="1F1F1F"/>
                </a:solidFill>
                <a:effectLst/>
                <a:latin typeface="Google Sans Text"/>
              </a:rPr>
              <a:t>The </a:t>
            </a:r>
            <a:r>
              <a:rPr lang="en-IN" sz="2000" b="1" i="0" dirty="0">
                <a:solidFill>
                  <a:srgbClr val="1F1F1F"/>
                </a:solidFill>
                <a:effectLst/>
                <a:latin typeface="Google Sans Text"/>
              </a:rPr>
              <a:t>dictionary</a:t>
            </a:r>
            <a:r>
              <a:rPr lang="en-IN" sz="2000" b="0" i="0" dirty="0">
                <a:solidFill>
                  <a:srgbClr val="1F1F1F"/>
                </a:solidFill>
                <a:effectLst/>
                <a:latin typeface="Google Sans Text"/>
              </a:rPr>
              <a:t> is the most important for business data — it is a labelled record.</a:t>
            </a:r>
          </a:p>
        </p:txBody>
      </p:sp>
    </p:spTree>
    <p:extLst>
      <p:ext uri="{BB962C8B-B14F-4D97-AF65-F5344CB8AC3E}">
        <p14:creationId xmlns:p14="http://schemas.microsoft.com/office/powerpoint/2010/main" val="6405564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861AA0-B7E5-035E-0A99-086EE64A9FC6}"/>
              </a:ext>
            </a:extLst>
          </p:cNvPr>
          <p:cNvSpPr txBox="1"/>
          <p:nvPr/>
        </p:nvSpPr>
        <p:spPr>
          <a:xfrm>
            <a:off x="741218" y="889843"/>
            <a:ext cx="1070956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3600" b="1" i="0" dirty="0">
                <a:solidFill>
                  <a:srgbClr val="1F1F1F"/>
                </a:solidFill>
                <a:effectLst/>
                <a:latin typeface="Google Sans Text"/>
              </a:rPr>
              <a:t>Functions</a:t>
            </a:r>
          </a:p>
          <a:p>
            <a:pPr indent="0" algn="l">
              <a:buNone/>
            </a:pPr>
            <a:endParaRPr lang="en-IN" sz="3600" b="1" i="0" dirty="0">
              <a:solidFill>
                <a:srgbClr val="1F1F1F"/>
              </a:solidFill>
              <a:effectLst/>
              <a:latin typeface="Google Sans Text"/>
            </a:endParaRPr>
          </a:p>
          <a:p>
            <a:pPr indent="0" algn="l">
              <a:buNone/>
            </a:pPr>
            <a:r>
              <a:rPr lang="en-IN" sz="2800" b="0" i="0" dirty="0">
                <a:solidFill>
                  <a:srgbClr val="1F1F1F"/>
                </a:solidFill>
                <a:effectLst/>
                <a:latin typeface="Google Sans Text"/>
              </a:rPr>
              <a:t>A </a:t>
            </a:r>
            <a:r>
              <a:rPr lang="en-IN" sz="2800" b="1" i="0" dirty="0">
                <a:solidFill>
                  <a:srgbClr val="1F1F1F"/>
                </a:solidFill>
                <a:effectLst/>
                <a:latin typeface="Google Sans Text"/>
              </a:rPr>
              <a:t>function</a:t>
            </a:r>
            <a:r>
              <a:rPr lang="en-IN" sz="2800" b="0" i="0" dirty="0">
                <a:solidFill>
                  <a:srgbClr val="1F1F1F"/>
                </a:solidFill>
                <a:effectLst/>
                <a:latin typeface="Google Sans Text"/>
              </a:rPr>
              <a:t> is a reusable recipe.</a:t>
            </a:r>
          </a:p>
          <a:p>
            <a:pPr indent="0" algn="l">
              <a:buNone/>
            </a:pPr>
            <a:r>
              <a:rPr lang="en-IN" sz="2800" b="0" i="0" dirty="0">
                <a:solidFill>
                  <a:srgbClr val="1F1F1F"/>
                </a:solidFill>
                <a:effectLst/>
                <a:latin typeface="Google Sans Text"/>
              </a:rPr>
              <a:t>You write the steps </a:t>
            </a:r>
            <a:r>
              <a:rPr lang="en-IN" sz="2800" b="1" i="0" dirty="0">
                <a:solidFill>
                  <a:srgbClr val="1F1F1F"/>
                </a:solidFill>
                <a:effectLst/>
                <a:latin typeface="Google Sans Text"/>
              </a:rPr>
              <a:t>once</a:t>
            </a:r>
            <a:r>
              <a:rPr lang="en-IN" sz="2800" b="0" i="0" dirty="0">
                <a:solidFill>
                  <a:srgbClr val="1F1F1F"/>
                </a:solidFill>
                <a:effectLst/>
                <a:latin typeface="Google Sans Text"/>
              </a:rPr>
              <a:t>, give it a name, and call it whenever you need it — no copy-paste.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2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def</a:t>
            </a:r>
            <a:r>
              <a:rPr lang="en-IN" sz="2800" b="0" i="0" dirty="0">
                <a:solidFill>
                  <a:srgbClr val="1F1F1F"/>
                </a:solidFill>
                <a:effectLst/>
                <a:latin typeface="Google Sans Text"/>
              </a:rPr>
              <a:t> starts the recipe.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2800" b="0" i="0" dirty="0">
                <a:solidFill>
                  <a:srgbClr val="1F1F1F"/>
                </a:solidFill>
                <a:effectLst/>
                <a:latin typeface="Google Sans Text"/>
              </a:rPr>
              <a:t>Inputs go in the brackets — these are </a:t>
            </a:r>
            <a:r>
              <a:rPr lang="en-IN" sz="2800" b="1" i="0" dirty="0">
                <a:solidFill>
                  <a:srgbClr val="1F1F1F"/>
                </a:solidFill>
                <a:effectLst/>
                <a:latin typeface="Google Sans Text"/>
              </a:rPr>
              <a:t>parameters</a:t>
            </a:r>
            <a:r>
              <a:rPr lang="en-IN" sz="2800" b="0" i="0" dirty="0">
                <a:solidFill>
                  <a:srgbClr val="1F1F1F"/>
                </a:solidFill>
                <a:effectLst/>
                <a:latin typeface="Google Sans Text"/>
              </a:rPr>
              <a:t>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2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en-IN" sz="2800" b="0" i="0" dirty="0">
                <a:solidFill>
                  <a:srgbClr val="1F1F1F"/>
                </a:solidFill>
                <a:effectLst/>
                <a:latin typeface="Google Sans Text"/>
              </a:rPr>
              <a:t> hands back the answer.</a:t>
            </a:r>
          </a:p>
          <a:p>
            <a:pPr lvl="0" algn="l"/>
            <a:endParaRPr lang="en-IN" sz="2800" b="0" i="0" dirty="0">
              <a:solidFill>
                <a:srgbClr val="1F1F1F"/>
              </a:solidFill>
              <a:effectLst/>
              <a:latin typeface="Google Sans Text"/>
            </a:endParaRPr>
          </a:p>
          <a:p>
            <a:pPr indent="0" algn="l">
              <a:buNone/>
            </a:pPr>
            <a:r>
              <a:rPr lang="en-IN" sz="2800" b="1" i="0" dirty="0">
                <a:solidFill>
                  <a:srgbClr val="1F1F1F"/>
                </a:solidFill>
                <a:effectLst/>
                <a:latin typeface="Google Sans Text"/>
              </a:rPr>
              <a:t>Why it matters:</a:t>
            </a:r>
            <a:r>
              <a:rPr lang="en-IN" sz="2800" b="0" i="0" dirty="0">
                <a:solidFill>
                  <a:srgbClr val="1F1F1F"/>
                </a:solidFill>
                <a:effectLst/>
                <a:latin typeface="Google Sans Text"/>
              </a:rPr>
              <a:t> functions stop you repeating yourself and make analysis auditable — everyone runs the </a:t>
            </a:r>
            <a:r>
              <a:rPr lang="en-IN" sz="2800" b="0" i="1" dirty="0">
                <a:solidFill>
                  <a:srgbClr val="1F1F1F"/>
                </a:solidFill>
                <a:effectLst/>
                <a:latin typeface="Google Sans Text"/>
              </a:rPr>
              <a:t>same</a:t>
            </a:r>
            <a:r>
              <a:rPr lang="en-IN" sz="2800" b="0" i="0" dirty="0">
                <a:solidFill>
                  <a:srgbClr val="1F1F1F"/>
                </a:solidFill>
                <a:effectLst/>
                <a:latin typeface="Google Sans Text"/>
              </a:rPr>
              <a:t> logic.</a:t>
            </a:r>
          </a:p>
        </p:txBody>
      </p:sp>
    </p:spTree>
    <p:extLst>
      <p:ext uri="{BB962C8B-B14F-4D97-AF65-F5344CB8AC3E}">
        <p14:creationId xmlns:p14="http://schemas.microsoft.com/office/powerpoint/2010/main" val="8972162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544CF0-DC71-33C8-3CBE-785FAFE09B07}"/>
              </a:ext>
            </a:extLst>
          </p:cNvPr>
          <p:cNvSpPr txBox="1"/>
          <p:nvPr/>
        </p:nvSpPr>
        <p:spPr>
          <a:xfrm>
            <a:off x="720437" y="914400"/>
            <a:ext cx="10972800" cy="5230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3600" b="1" i="0" dirty="0">
                <a:solidFill>
                  <a:srgbClr val="1F1F1F"/>
                </a:solidFill>
                <a:effectLst/>
                <a:latin typeface="Google Sans Text"/>
              </a:rPr>
              <a:t>Functional Programming</a:t>
            </a:r>
          </a:p>
          <a:p>
            <a:pPr indent="0" algn="l">
              <a:buNone/>
            </a:pPr>
            <a:endParaRPr lang="en-IN" sz="3600" b="1" i="0" dirty="0">
              <a:solidFill>
                <a:srgbClr val="1F1F1F"/>
              </a:solidFill>
              <a:effectLst/>
              <a:latin typeface="Google Sans Text"/>
            </a:endParaRPr>
          </a:p>
          <a:p>
            <a:pPr indent="0" algn="l">
              <a:buNone/>
            </a:pPr>
            <a:r>
              <a:rPr lang="en-IN" sz="2800" b="0" i="0" dirty="0">
                <a:solidFill>
                  <a:srgbClr val="1F1F1F"/>
                </a:solidFill>
                <a:effectLst/>
                <a:latin typeface="Google Sans Text"/>
              </a:rPr>
              <a:t>A style where you </a:t>
            </a:r>
            <a:r>
              <a:rPr lang="en-IN" sz="2800" b="1" i="0" dirty="0">
                <a:solidFill>
                  <a:srgbClr val="1F1F1F"/>
                </a:solidFill>
                <a:effectLst/>
                <a:latin typeface="Google Sans Text"/>
              </a:rPr>
              <a:t>apply a function across a whole collection at once</a:t>
            </a:r>
            <a:r>
              <a:rPr lang="en-IN" sz="2800" b="0" i="0" dirty="0">
                <a:solidFill>
                  <a:srgbClr val="1F1F1F"/>
                </a:solidFill>
                <a:effectLst/>
                <a:latin typeface="Google Sans Text"/>
              </a:rPr>
              <a:t>, instead of writing a loop by hand. It is shorter and closer to how data tools (like </a:t>
            </a:r>
            <a:r>
              <a:rPr lang="en-IN" sz="2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pandas</a:t>
            </a:r>
            <a:r>
              <a:rPr lang="en-IN" sz="2800" b="0" i="0" dirty="0">
                <a:solidFill>
                  <a:srgbClr val="1F1F1F"/>
                </a:solidFill>
                <a:effectLst/>
                <a:latin typeface="Google Sans Text"/>
              </a:rPr>
              <a:t>) actually work.</a:t>
            </a:r>
          </a:p>
          <a:p>
            <a:pPr indent="0" algn="l">
              <a:buNone/>
            </a:pPr>
            <a:endParaRPr lang="en-IN" sz="2800" b="0" i="0" dirty="0">
              <a:solidFill>
                <a:srgbClr val="1F1F1F"/>
              </a:solidFill>
              <a:effectLst/>
              <a:latin typeface="Google Sans Text"/>
            </a:endParaRPr>
          </a:p>
          <a:p>
            <a:pPr indent="0" algn="l">
              <a:buNone/>
            </a:pPr>
            <a:r>
              <a:rPr lang="en-IN" sz="2800" b="0" i="0" dirty="0">
                <a:solidFill>
                  <a:srgbClr val="1F1F1F"/>
                </a:solidFill>
                <a:effectLst/>
                <a:latin typeface="Google Sans Text"/>
              </a:rPr>
              <a:t>Three tools: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2800" b="1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lambda</a:t>
            </a:r>
            <a:r>
              <a:rPr lang="en-IN" sz="2800" b="0" i="0" dirty="0">
                <a:solidFill>
                  <a:srgbClr val="1F1F1F"/>
                </a:solidFill>
                <a:effectLst/>
                <a:latin typeface="Google Sans Text"/>
              </a:rPr>
              <a:t> — a tiny one-line unnamed function.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2800" b="1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map</a:t>
            </a:r>
            <a:r>
              <a:rPr lang="en-IN" sz="2800" b="0" i="0" dirty="0">
                <a:solidFill>
                  <a:srgbClr val="1F1F1F"/>
                </a:solidFill>
                <a:effectLst/>
                <a:latin typeface="Google Sans Text"/>
              </a:rPr>
              <a:t> — apply a function to </a:t>
            </a:r>
            <a:r>
              <a:rPr lang="en-IN" sz="2800" b="0" i="1" dirty="0">
                <a:solidFill>
                  <a:srgbClr val="1F1F1F"/>
                </a:solidFill>
                <a:effectLst/>
                <a:latin typeface="Google Sans Text"/>
              </a:rPr>
              <a:t>every</a:t>
            </a:r>
            <a:r>
              <a:rPr lang="en-IN" sz="2800" b="0" i="0" dirty="0">
                <a:solidFill>
                  <a:srgbClr val="1F1F1F"/>
                </a:solidFill>
                <a:effectLst/>
                <a:latin typeface="Google Sans Text"/>
              </a:rPr>
              <a:t> item.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2800" b="1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filter</a:t>
            </a:r>
            <a:r>
              <a:rPr lang="en-IN" sz="2800" b="0" i="0" dirty="0">
                <a:solidFill>
                  <a:srgbClr val="1F1F1F"/>
                </a:solidFill>
                <a:effectLst/>
                <a:latin typeface="Google Sans Text"/>
              </a:rPr>
              <a:t> — keep only the items that pass a test.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2800" b="1" i="0" dirty="0">
                <a:solidFill>
                  <a:srgbClr val="1F1F1F"/>
                </a:solidFill>
                <a:effectLst/>
                <a:latin typeface="Google Sans Text"/>
              </a:rPr>
              <a:t>List comprehension</a:t>
            </a:r>
            <a:r>
              <a:rPr lang="en-IN" sz="2800" b="0" i="0" dirty="0">
                <a:solidFill>
                  <a:srgbClr val="1F1F1F"/>
                </a:solidFill>
                <a:effectLst/>
                <a:latin typeface="Google Sans Text"/>
              </a:rPr>
              <a:t> — the readable Python way to do both.</a:t>
            </a:r>
          </a:p>
        </p:txBody>
      </p:sp>
    </p:spTree>
    <p:extLst>
      <p:ext uri="{BB962C8B-B14F-4D97-AF65-F5344CB8AC3E}">
        <p14:creationId xmlns:p14="http://schemas.microsoft.com/office/powerpoint/2010/main" val="39708643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D87F1D-C3B7-335B-CE38-DBFC7278878B}"/>
              </a:ext>
            </a:extLst>
          </p:cNvPr>
          <p:cNvSpPr txBox="1"/>
          <p:nvPr/>
        </p:nvSpPr>
        <p:spPr>
          <a:xfrm>
            <a:off x="720437" y="1094509"/>
            <a:ext cx="1029392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2800" b="1" i="0" dirty="0">
                <a:solidFill>
                  <a:srgbClr val="1F1F1F"/>
                </a:solidFill>
                <a:effectLst/>
                <a:latin typeface="Google Sans Text"/>
              </a:rPr>
              <a:t>Modules &amp; Packages</a:t>
            </a:r>
          </a:p>
          <a:p>
            <a:pPr indent="0" algn="l">
              <a:buNone/>
            </a:pPr>
            <a:endParaRPr lang="en-IN" sz="2800" b="1" i="0" dirty="0">
              <a:solidFill>
                <a:srgbClr val="1F1F1F"/>
              </a:solidFill>
              <a:effectLst/>
              <a:latin typeface="Google Sans Text"/>
            </a:endParaRPr>
          </a:p>
          <a:p>
            <a:pPr indent="0" algn="l">
              <a:buNone/>
            </a:pPr>
            <a:r>
              <a:rPr lang="en-IN" sz="2000" b="0" i="0" dirty="0">
                <a:solidFill>
                  <a:srgbClr val="1F1F1F"/>
                </a:solidFill>
                <a:effectLst/>
                <a:latin typeface="Google Sans Text"/>
              </a:rPr>
              <a:t>You never build analytics from scratch. A </a:t>
            </a:r>
            <a:r>
              <a:rPr lang="en-IN" sz="2000" b="1" i="0" dirty="0">
                <a:solidFill>
                  <a:srgbClr val="1F1F1F"/>
                </a:solidFill>
                <a:effectLst/>
                <a:latin typeface="Google Sans Text"/>
              </a:rPr>
              <a:t>module/package</a:t>
            </a:r>
            <a:r>
              <a:rPr lang="en-IN" sz="2000" b="0" i="0" dirty="0">
                <a:solidFill>
                  <a:srgbClr val="1F1F1F"/>
                </a:solidFill>
                <a:effectLst/>
                <a:latin typeface="Google Sans Text"/>
              </a:rPr>
              <a:t> is a ready-made toolbox someone else wrote that you </a:t>
            </a:r>
            <a:r>
              <a:rPr lang="en-IN" sz="20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IN" sz="2000" b="0" i="0" dirty="0">
                <a:solidFill>
                  <a:srgbClr val="1F1F1F"/>
                </a:solidFill>
                <a:effectLst/>
                <a:latin typeface="Google Sans Text"/>
              </a:rPr>
              <a:t>.</a:t>
            </a:r>
          </a:p>
          <a:p>
            <a:pPr indent="0" algn="l">
              <a:buNone/>
            </a:pPr>
            <a:endParaRPr lang="en-IN" sz="2000" b="0" i="0" dirty="0">
              <a:solidFill>
                <a:srgbClr val="1F1F1F"/>
              </a:solidFill>
              <a:effectLst/>
              <a:latin typeface="Google Sans Text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import math</a:t>
            </a:r>
            <a:r>
              <a:rPr lang="en-IN" sz="2000" b="0" i="0" dirty="0">
                <a:solidFill>
                  <a:srgbClr val="1F1F1F"/>
                </a:solidFill>
                <a:effectLst/>
                <a:latin typeface="Google Sans Text"/>
              </a:rPr>
              <a:t> — a built-in toolbox.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import pandas as pd</a:t>
            </a:r>
            <a:r>
              <a:rPr lang="en-IN" sz="2000" b="0" i="0" dirty="0">
                <a:solidFill>
                  <a:srgbClr val="1F1F1F"/>
                </a:solidFill>
                <a:effectLst/>
                <a:latin typeface="Google Sans Text"/>
              </a:rPr>
              <a:t> — the industry toolbox for data tables (a </a:t>
            </a:r>
            <a:r>
              <a:rPr lang="en-IN" sz="2000" b="1" i="0" dirty="0">
                <a:solidFill>
                  <a:srgbClr val="1F1F1F"/>
                </a:solidFill>
                <a:effectLst/>
                <a:latin typeface="Google Sans Text"/>
              </a:rPr>
              <a:t>package</a:t>
            </a:r>
            <a:r>
              <a:rPr lang="en-IN" sz="2000" b="0" i="0" dirty="0">
                <a:solidFill>
                  <a:srgbClr val="1F1F1F"/>
                </a:solidFill>
                <a:effectLst/>
                <a:latin typeface="Google Sans Text"/>
              </a:rPr>
              <a:t>). </a:t>
            </a:r>
            <a:r>
              <a:rPr lang="en-IN" sz="20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as pd</a:t>
            </a:r>
            <a:r>
              <a:rPr lang="en-IN" sz="2000" b="0" i="0" dirty="0">
                <a:solidFill>
                  <a:srgbClr val="1F1F1F"/>
                </a:solidFill>
                <a:effectLst/>
                <a:latin typeface="Google Sans Text"/>
              </a:rPr>
              <a:t> gives it a short nickname.</a:t>
            </a:r>
          </a:p>
          <a:p>
            <a:pPr lvl="0" algn="l"/>
            <a:endParaRPr lang="en-IN" sz="2000" b="0" i="0" dirty="0">
              <a:solidFill>
                <a:srgbClr val="1F1F1F"/>
              </a:solidFill>
              <a:effectLst/>
              <a:latin typeface="Google Sans Text"/>
            </a:endParaRPr>
          </a:p>
          <a:p>
            <a:pPr indent="0" algn="l">
              <a:buNone/>
            </a:pPr>
            <a:r>
              <a:rPr lang="en-IN" sz="2000" b="0" i="0" dirty="0">
                <a:solidFill>
                  <a:srgbClr val="1F1F1F"/>
                </a:solidFill>
                <a:effectLst/>
                <a:latin typeface="Google Sans Text"/>
              </a:rPr>
              <a:t>This is the bridge to the rest of the course: </a:t>
            </a:r>
          </a:p>
          <a:p>
            <a:pPr indent="0" algn="l">
              <a:buNone/>
            </a:pPr>
            <a:endParaRPr lang="en-IN" sz="2000" b="1" i="0" dirty="0">
              <a:solidFill>
                <a:srgbClr val="1F1F1F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IN" sz="2000" b="1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pandas</a:t>
            </a:r>
            <a:r>
              <a:rPr lang="en-IN" sz="2000" b="1" i="0" dirty="0">
                <a:solidFill>
                  <a:srgbClr val="1F1F1F"/>
                </a:solidFill>
                <a:effectLst/>
                <a:latin typeface="Google Sans Text"/>
              </a:rPr>
              <a:t> for data</a:t>
            </a:r>
          </a:p>
          <a:p>
            <a:pPr indent="0" algn="l">
              <a:buNone/>
            </a:pPr>
            <a:endParaRPr lang="en-IN" sz="2000" b="1" dirty="0">
              <a:solidFill>
                <a:srgbClr val="1F1F1F"/>
              </a:solidFill>
              <a:latin typeface="Google Sans Text"/>
            </a:endParaRPr>
          </a:p>
          <a:p>
            <a:pPr indent="0" algn="l">
              <a:buNone/>
            </a:pPr>
            <a:r>
              <a:rPr lang="en-IN" sz="2000" b="1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Matplotlib &amp; seaborn</a:t>
            </a:r>
            <a:r>
              <a:rPr lang="en-IN" sz="2000" b="1" i="0" dirty="0">
                <a:solidFill>
                  <a:srgbClr val="1F1F1F"/>
                </a:solidFill>
                <a:effectLst/>
                <a:latin typeface="Google Sans Text"/>
              </a:rPr>
              <a:t> for charts</a:t>
            </a:r>
            <a:endParaRPr lang="en-IN" sz="2000" b="1" dirty="0">
              <a:solidFill>
                <a:srgbClr val="1F1F1F"/>
              </a:solidFill>
              <a:latin typeface="Google Sans Text"/>
            </a:endParaRPr>
          </a:p>
          <a:p>
            <a:pPr indent="0" algn="l">
              <a:buNone/>
            </a:pPr>
            <a:endParaRPr lang="en-IN" sz="2000" b="1" i="0" dirty="0">
              <a:solidFill>
                <a:srgbClr val="1F1F1F"/>
              </a:solidFill>
              <a:effectLst/>
              <a:latin typeface="Google Sans Text"/>
            </a:endParaRPr>
          </a:p>
          <a:p>
            <a:pPr indent="0" algn="l">
              <a:buNone/>
            </a:pPr>
            <a:r>
              <a:rPr lang="en-IN" sz="2000" b="1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scikit-learn</a:t>
            </a:r>
            <a:r>
              <a:rPr lang="en-IN" sz="2000" b="1" i="0" dirty="0">
                <a:solidFill>
                  <a:srgbClr val="1F1F1F"/>
                </a:solidFill>
                <a:effectLst/>
                <a:latin typeface="Google Sans Text"/>
              </a:rPr>
              <a:t> for machine learning</a:t>
            </a:r>
            <a:r>
              <a:rPr lang="en-IN" sz="2000" b="0" i="0" dirty="0">
                <a:solidFill>
                  <a:srgbClr val="1F1F1F"/>
                </a:solidFill>
                <a:effectLst/>
                <a:latin typeface="Google Sans Text"/>
              </a:rPr>
              <a:t> — all imported this same way.</a:t>
            </a:r>
          </a:p>
        </p:txBody>
      </p:sp>
    </p:spTree>
    <p:extLst>
      <p:ext uri="{BB962C8B-B14F-4D97-AF65-F5344CB8AC3E}">
        <p14:creationId xmlns:p14="http://schemas.microsoft.com/office/powerpoint/2010/main" val="17668388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2D5C04-AFC6-C5C6-116F-6C390CA0487D}"/>
              </a:ext>
            </a:extLst>
          </p:cNvPr>
          <p:cNvSpPr txBox="1"/>
          <p:nvPr/>
        </p:nvSpPr>
        <p:spPr>
          <a:xfrm>
            <a:off x="671945" y="1024836"/>
            <a:ext cx="1118061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500"/>
              </a:spcBef>
              <a:spcAft>
                <a:spcPts val="1500"/>
              </a:spcAft>
              <a:buNone/>
            </a:pPr>
            <a:r>
              <a:rPr lang="en-IN" sz="2800" b="1" i="0" dirty="0">
                <a:solidFill>
                  <a:srgbClr val="10162F"/>
                </a:solidFill>
                <a:effectLst/>
                <a:highlight>
                  <a:srgbClr val="00FF00"/>
                </a:highlight>
                <a:latin typeface="Apercu"/>
              </a:rPr>
              <a:t>“This was one of the best parts of being a coder, and an artist: the thrill of being in the middle of creating something delightful. It’s like the anticipation of eating freshly baked bread after its aroma fills the room.” – Dr. Joy </a:t>
            </a:r>
            <a:r>
              <a:rPr lang="en-IN" sz="2800" b="1" i="0" dirty="0" err="1">
                <a:solidFill>
                  <a:srgbClr val="10162F"/>
                </a:solidFill>
                <a:effectLst/>
                <a:highlight>
                  <a:srgbClr val="00FF00"/>
                </a:highlight>
                <a:latin typeface="Apercu"/>
              </a:rPr>
              <a:t>Buolamwini</a:t>
            </a:r>
            <a:r>
              <a:rPr lang="en-IN" sz="2800" b="1" i="0" dirty="0">
                <a:solidFill>
                  <a:srgbClr val="10162F"/>
                </a:solidFill>
                <a:effectLst/>
                <a:highlight>
                  <a:srgbClr val="00FF00"/>
                </a:highlight>
                <a:latin typeface="Apercu"/>
              </a:rPr>
              <a:t>, </a:t>
            </a:r>
            <a:r>
              <a:rPr lang="en-IN" sz="2800" b="1" i="1" dirty="0">
                <a:solidFill>
                  <a:srgbClr val="10162F"/>
                </a:solidFill>
                <a:effectLst/>
                <a:highlight>
                  <a:srgbClr val="00FF00"/>
                </a:highlight>
                <a:latin typeface="Apercu"/>
              </a:rPr>
              <a:t>Unmasking AI</a:t>
            </a:r>
            <a:endParaRPr lang="en-IN" sz="2800" b="1" i="0" dirty="0">
              <a:solidFill>
                <a:srgbClr val="10162F"/>
              </a:solidFill>
              <a:effectLst/>
              <a:highlight>
                <a:srgbClr val="00FF00"/>
              </a:highlight>
              <a:latin typeface="Apercu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BD553F-7AD7-D7FB-4697-F69631595631}"/>
              </a:ext>
            </a:extLst>
          </p:cNvPr>
          <p:cNvSpPr txBox="1"/>
          <p:nvPr/>
        </p:nvSpPr>
        <p:spPr>
          <a:xfrm>
            <a:off x="671945" y="2936259"/>
            <a:ext cx="1118061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500"/>
              </a:spcBef>
              <a:spcAft>
                <a:spcPts val="1500"/>
              </a:spcAft>
              <a:buNone/>
            </a:pPr>
            <a:r>
              <a:rPr lang="en-IN" sz="3200" b="1" i="0" dirty="0">
                <a:solidFill>
                  <a:srgbClr val="10162F"/>
                </a:solidFill>
                <a:effectLst/>
                <a:highlight>
                  <a:srgbClr val="FFFF00"/>
                </a:highlight>
                <a:latin typeface="Apercu"/>
              </a:rPr>
              <a:t>“The code you write makes you a programmer. The code you delete makes you a good one. The code you don’t have to write makes you a great one.” – Mario Fusco, Principal Software Engineer at Red Hat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F2EA59-9860-59A2-F428-CAAA0846C49B}"/>
              </a:ext>
            </a:extLst>
          </p:cNvPr>
          <p:cNvSpPr txBox="1"/>
          <p:nvPr/>
        </p:nvSpPr>
        <p:spPr>
          <a:xfrm>
            <a:off x="671945" y="5093904"/>
            <a:ext cx="1088967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500"/>
              </a:spcBef>
              <a:spcAft>
                <a:spcPts val="1500"/>
              </a:spcAft>
              <a:buNone/>
            </a:pPr>
            <a:r>
              <a:rPr lang="en-IN" sz="3200" b="1" i="0" dirty="0">
                <a:solidFill>
                  <a:srgbClr val="10162F"/>
                </a:solidFill>
                <a:effectLst/>
                <a:highlight>
                  <a:srgbClr val="C0C0C0"/>
                </a:highlight>
                <a:latin typeface="Apercu"/>
              </a:rPr>
              <a:t>“The function of good software is to make the complex appear to be simple.” – Grady Booch, Chief Scientist for Software Engineering at IBM Research</a:t>
            </a:r>
          </a:p>
        </p:txBody>
      </p:sp>
    </p:spTree>
    <p:extLst>
      <p:ext uri="{BB962C8B-B14F-4D97-AF65-F5344CB8AC3E}">
        <p14:creationId xmlns:p14="http://schemas.microsoft.com/office/powerpoint/2010/main" val="29935483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CD9CF9-CF01-0121-4653-06D9C352C73E}"/>
              </a:ext>
            </a:extLst>
          </p:cNvPr>
          <p:cNvSpPr txBox="1"/>
          <p:nvPr/>
        </p:nvSpPr>
        <p:spPr>
          <a:xfrm>
            <a:off x="858981" y="942110"/>
            <a:ext cx="1047403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500"/>
              </a:spcBef>
              <a:spcAft>
                <a:spcPts val="1500"/>
              </a:spcAft>
              <a:buNone/>
            </a:pPr>
            <a:r>
              <a:rPr lang="en-IN" sz="4400" b="1" i="0" dirty="0">
                <a:solidFill>
                  <a:srgbClr val="10162F"/>
                </a:solidFill>
                <a:effectLst/>
                <a:latin typeface="Apercu"/>
              </a:rPr>
              <a:t>“Code is read much more often than it is written.” – Guido Van Rossum, creator of Python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C3B8E3-7D0D-5C64-F7AF-FE2E6591F72B}"/>
              </a:ext>
            </a:extLst>
          </p:cNvPr>
          <p:cNvSpPr txBox="1"/>
          <p:nvPr/>
        </p:nvSpPr>
        <p:spPr>
          <a:xfrm>
            <a:off x="858981" y="3792233"/>
            <a:ext cx="1008611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500"/>
              </a:spcBef>
              <a:spcAft>
                <a:spcPts val="1500"/>
              </a:spcAft>
              <a:buNone/>
            </a:pPr>
            <a:r>
              <a:rPr lang="en-IN" sz="3200" b="1" i="0" dirty="0">
                <a:solidFill>
                  <a:srgbClr val="10162F"/>
                </a:solidFill>
                <a:effectLst/>
                <a:highlight>
                  <a:srgbClr val="00FFFF"/>
                </a:highlight>
                <a:latin typeface="Apercu"/>
              </a:rPr>
              <a:t>“Learning to write programs stretches your mind, and helps you think better, creates a way of thinking about things that I think is helpful in all domains.” – Bill Gates, Microsoft co-founder</a:t>
            </a:r>
          </a:p>
        </p:txBody>
      </p:sp>
    </p:spTree>
    <p:extLst>
      <p:ext uri="{BB962C8B-B14F-4D97-AF65-F5344CB8AC3E}">
        <p14:creationId xmlns:p14="http://schemas.microsoft.com/office/powerpoint/2010/main" val="13539260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25E3C0-CC31-F167-4D85-928589BFB4ED}"/>
              </a:ext>
            </a:extLst>
          </p:cNvPr>
          <p:cNvSpPr txBox="1"/>
          <p:nvPr/>
        </p:nvSpPr>
        <p:spPr>
          <a:xfrm>
            <a:off x="1011381" y="1874728"/>
            <a:ext cx="985058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Project Work – Teams – Tracks – Evaluation Pattern</a:t>
            </a:r>
          </a:p>
          <a:p>
            <a:endParaRPr lang="en-US" sz="2800" dirty="0"/>
          </a:p>
          <a:p>
            <a:r>
              <a:rPr lang="en-US" sz="2800" dirty="0"/>
              <a:t>Mid-Term – Case-Studies &amp; Questions (1)</a:t>
            </a:r>
          </a:p>
          <a:p>
            <a:endParaRPr lang="en-US" sz="2800" dirty="0"/>
          </a:p>
          <a:p>
            <a:r>
              <a:rPr lang="en-US" sz="2800" dirty="0"/>
              <a:t>End-Term – Case Studies &amp; Questions (3)</a:t>
            </a:r>
          </a:p>
          <a:p>
            <a:endParaRPr lang="en-US" sz="2800" dirty="0"/>
          </a:p>
          <a:p>
            <a:r>
              <a:rPr lang="en-US" sz="2800" dirty="0"/>
              <a:t>Classroom Activities &amp; Assignment – Case-Studies and Questions (3)</a:t>
            </a:r>
          </a:p>
        </p:txBody>
      </p:sp>
    </p:spTree>
    <p:extLst>
      <p:ext uri="{BB962C8B-B14F-4D97-AF65-F5344CB8AC3E}">
        <p14:creationId xmlns:p14="http://schemas.microsoft.com/office/powerpoint/2010/main" val="230126387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514FFA57-CE6D-CB41-BA30-8C7C9253AE87}" vid="{F9263207-CF73-8F41-BDF4-24DE32BCBD7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2608</TotalTime>
  <Words>1460</Words>
  <Application>Microsoft Macintosh PowerPoint</Application>
  <PresentationFormat>Widescreen</PresentationFormat>
  <Paragraphs>216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Apercu</vt:lpstr>
      <vt:lpstr>Aptos</vt:lpstr>
      <vt:lpstr>Arial</vt:lpstr>
      <vt:lpstr>Calibri</vt:lpstr>
      <vt:lpstr>Courier New</vt:lpstr>
      <vt:lpstr>Google Sans Text</vt:lpstr>
      <vt:lpstr>Times New Roman</vt:lpstr>
      <vt:lpstr>Theme1</vt:lpstr>
      <vt:lpstr>Business Analytics using Python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Nikhil D Jonathan</dc:creator>
  <cp:lastModifiedBy>Nikhil D Jonathan</cp:lastModifiedBy>
  <cp:revision>17</cp:revision>
  <dcterms:created xsi:type="dcterms:W3CDTF">2026-07-16T02:13:46Z</dcterms:created>
  <dcterms:modified xsi:type="dcterms:W3CDTF">2026-07-29T10:21:27Z</dcterms:modified>
</cp:coreProperties>
</file>