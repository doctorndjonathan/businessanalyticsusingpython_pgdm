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jpe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88" r:id="rId3"/>
    <p:sldId id="295" r:id="rId4"/>
    <p:sldId id="300" r:id="rId5"/>
    <p:sldId id="294" r:id="rId6"/>
    <p:sldId id="301" r:id="rId7"/>
    <p:sldId id="296" r:id="rId8"/>
    <p:sldId id="297" r:id="rId9"/>
    <p:sldId id="302" r:id="rId10"/>
    <p:sldId id="298" r:id="rId11"/>
    <p:sldId id="303" r:id="rId12"/>
    <p:sldId id="304" r:id="rId13"/>
    <p:sldId id="305" r:id="rId14"/>
    <p:sldId id="306" r:id="rId15"/>
    <p:sldId id="307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94"/>
    <p:restoredTop sz="94432"/>
  </p:normalViewPr>
  <p:slideViewPr>
    <p:cSldViewPr snapToGrid="0">
      <p:cViewPr varScale="1">
        <p:scale>
          <a:sx n="146" d="100"/>
          <a:sy n="146" d="100"/>
        </p:scale>
        <p:origin x="14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6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6084417" y="21771"/>
            <a:ext cx="609599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61"/>
          <p:cNvPicPr preferRelativeResize="0"/>
          <p:nvPr/>
        </p:nvPicPr>
        <p:blipFill rotWithShape="1">
          <a:blip r:embed="rId4">
            <a:alphaModFix/>
          </a:blip>
          <a:srcRect r="28963"/>
          <a:stretch/>
        </p:blipFill>
        <p:spPr>
          <a:xfrm>
            <a:off x="1021760" y="3560411"/>
            <a:ext cx="1657623" cy="1164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61"/>
          <p:cNvPicPr preferRelativeResize="0"/>
          <p:nvPr/>
        </p:nvPicPr>
        <p:blipFill rotWithShape="1">
          <a:blip r:embed="rId5">
            <a:alphaModFix/>
          </a:blip>
          <a:srcRect l="2593"/>
          <a:stretch/>
        </p:blipFill>
        <p:spPr>
          <a:xfrm rot="5400000">
            <a:off x="140509" y="1120230"/>
            <a:ext cx="3505205" cy="1264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6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5400000">
            <a:off x="854302" y="5186815"/>
            <a:ext cx="2077619" cy="1264748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61"/>
          <p:cNvSpPr txBox="1">
            <a:spLocks noGrp="1"/>
          </p:cNvSpPr>
          <p:nvPr>
            <p:ph type="ctrTitle"/>
          </p:nvPr>
        </p:nvSpPr>
        <p:spPr>
          <a:xfrm>
            <a:off x="3287486" y="1122363"/>
            <a:ext cx="8452569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5" name="Google Shape;25;p61"/>
          <p:cNvSpPr txBox="1">
            <a:spLocks noGrp="1"/>
          </p:cNvSpPr>
          <p:nvPr>
            <p:ph type="subTitle" idx="1"/>
          </p:nvPr>
        </p:nvSpPr>
        <p:spPr>
          <a:xfrm>
            <a:off x="3287486" y="3602038"/>
            <a:ext cx="8452569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26" name="Google Shape;26;p61"/>
          <p:cNvSpPr/>
          <p:nvPr/>
        </p:nvSpPr>
        <p:spPr>
          <a:xfrm>
            <a:off x="0" y="0"/>
            <a:ext cx="130629" cy="345077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61"/>
          <p:cNvSpPr/>
          <p:nvPr/>
        </p:nvSpPr>
        <p:spPr>
          <a:xfrm>
            <a:off x="0" y="3429000"/>
            <a:ext cx="130629" cy="345077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38972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E508F13B-222E-A44B-A59F-A474ACF3554D}" type="datetimeFigureOut">
              <a:rPr lang="en-US" smtClean="0"/>
              <a:t>8/6/26</a:t>
            </a:fld>
            <a:endParaRPr lang="en-US"/>
          </a:p>
        </p:txBody>
      </p:sp>
      <p:sp>
        <p:nvSpPr>
          <p:cNvPr id="30" name="Google Shape;30;p6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/>
          </a:p>
        </p:txBody>
      </p:sp>
      <p:sp>
        <p:nvSpPr>
          <p:cNvPr id="31" name="Google Shape;31;p6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2ACEA53B-6141-9443-9769-2BDEDEE05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27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f2a7862fc4_33_0)">
  <p:cSld name="Generated (g3f2a7862fc4_33_0)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6115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4"/>
          <p:cNvSpPr txBox="1">
            <a:spLocks noGrp="1"/>
          </p:cNvSpPr>
          <p:nvPr>
            <p:ph type="title"/>
          </p:nvPr>
        </p:nvSpPr>
        <p:spPr>
          <a:xfrm>
            <a:off x="594464" y="60296"/>
            <a:ext cx="10001250" cy="1053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5" name="Google Shape;35;p64"/>
          <p:cNvSpPr txBox="1">
            <a:spLocks noGrp="1"/>
          </p:cNvSpPr>
          <p:nvPr>
            <p:ph type="body" idx="1"/>
          </p:nvPr>
        </p:nvSpPr>
        <p:spPr>
          <a:xfrm>
            <a:off x="594464" y="1250731"/>
            <a:ext cx="10648950" cy="492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6" name="Google Shape;36;p64"/>
          <p:cNvSpPr txBox="1">
            <a:spLocks noGrp="1"/>
          </p:cNvSpPr>
          <p:nvPr>
            <p:ph type="sldNum" idx="12"/>
          </p:nvPr>
        </p:nvSpPr>
        <p:spPr>
          <a:xfrm>
            <a:off x="11669486" y="6492875"/>
            <a:ext cx="522514" cy="3651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ct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ct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ct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ct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ct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ct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ct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ct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2ACEA53B-6141-9443-9769-2BDEDEE05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494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0"/>
          <p:cNvSpPr txBox="1">
            <a:spLocks noGrp="1"/>
          </p:cNvSpPr>
          <p:nvPr>
            <p:ph type="title"/>
          </p:nvPr>
        </p:nvSpPr>
        <p:spPr>
          <a:xfrm>
            <a:off x="594464" y="60296"/>
            <a:ext cx="10001250" cy="1053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0"/>
          <p:cNvSpPr txBox="1">
            <a:spLocks noGrp="1"/>
          </p:cNvSpPr>
          <p:nvPr>
            <p:ph type="body" idx="1"/>
          </p:nvPr>
        </p:nvSpPr>
        <p:spPr>
          <a:xfrm>
            <a:off x="594464" y="1250731"/>
            <a:ext cx="10648950" cy="492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2ACEA53B-6141-9443-9769-2BDEDEE05D4E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Google Shape;13;p60"/>
          <p:cNvPicPr preferRelativeResize="0"/>
          <p:nvPr/>
        </p:nvPicPr>
        <p:blipFill rotWithShape="1">
          <a:blip r:embed="rId6">
            <a:alphaModFix/>
          </a:blip>
          <a:srcRect r="28963"/>
          <a:stretch/>
        </p:blipFill>
        <p:spPr>
          <a:xfrm>
            <a:off x="10787744" y="-1"/>
            <a:ext cx="1273628" cy="8949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" name="Google Shape;14;p60"/>
          <p:cNvCxnSpPr/>
          <p:nvPr/>
        </p:nvCxnSpPr>
        <p:spPr>
          <a:xfrm>
            <a:off x="2205035" y="865039"/>
            <a:ext cx="2707781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" name="Google Shape;15;p60"/>
          <p:cNvSpPr/>
          <p:nvPr/>
        </p:nvSpPr>
        <p:spPr>
          <a:xfrm>
            <a:off x="0" y="0"/>
            <a:ext cx="130629" cy="345077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60"/>
          <p:cNvSpPr/>
          <p:nvPr/>
        </p:nvSpPr>
        <p:spPr>
          <a:xfrm>
            <a:off x="0" y="3429000"/>
            <a:ext cx="130629" cy="345077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" name="Google Shape;17;p60"/>
          <p:cNvCxnSpPr/>
          <p:nvPr/>
        </p:nvCxnSpPr>
        <p:spPr>
          <a:xfrm>
            <a:off x="721812" y="865039"/>
            <a:ext cx="1483219" cy="0"/>
          </a:xfrm>
          <a:prstGeom prst="straightConnector1">
            <a:avLst/>
          </a:prstGeom>
          <a:noFill/>
          <a:ln w="38100" cap="flat" cmpd="sng">
            <a:solidFill>
              <a:srgbClr val="0C0C0C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14593322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ve.ics.uci.edu/dataset/9/auto+mpg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hireeodiz.com/blogs/articles/diamond-color-scale-10-essential-tips-before-buying?srsltid=AfmBOoq_J96TG_fDATr8r8nOwpVUZDauXJZlPVutpon9WA5ZvPwp4nQx" TargetMode="External"/><Relationship Id="rId2" Type="http://schemas.openxmlformats.org/officeDocument/2006/relationships/image" Target="../media/image8.web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D48FC-8E9E-0522-0C05-1390EF5FB5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Module 2: Exploring and Visualizing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D55EA8-8DDB-770A-4853-0371D286BA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Nikhil D Jonathan, July 2026</a:t>
            </a:r>
          </a:p>
        </p:txBody>
      </p:sp>
    </p:spTree>
    <p:extLst>
      <p:ext uri="{BB962C8B-B14F-4D97-AF65-F5344CB8AC3E}">
        <p14:creationId xmlns:p14="http://schemas.microsoft.com/office/powerpoint/2010/main" val="1997879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72D38D-409F-4BAE-1D0D-325D2A0F13BF}"/>
              </a:ext>
            </a:extLst>
          </p:cNvPr>
          <p:cNvSpPr txBox="1"/>
          <p:nvPr/>
        </p:nvSpPr>
        <p:spPr>
          <a:xfrm>
            <a:off x="1884217" y="1397675"/>
            <a:ext cx="7746031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r>
              <a:rPr lang="en-US" dirty="0"/>
              <a:t>Importance and Characteristics of Descriptive Data</a:t>
            </a:r>
          </a:p>
          <a:p>
            <a:endParaRPr lang="en-US" dirty="0"/>
          </a:p>
          <a:p>
            <a:r>
              <a:rPr lang="en-US" dirty="0"/>
              <a:t>Exploratory Analysis using Python for data pre-processing – Distributions and Outliers</a:t>
            </a:r>
          </a:p>
          <a:p>
            <a:endParaRPr lang="en-US" dirty="0"/>
          </a:p>
          <a:p>
            <a:r>
              <a:rPr lang="en-US" dirty="0"/>
              <a:t>Visualizing using Seaborn and Matplotlib</a:t>
            </a:r>
          </a:p>
          <a:p>
            <a:endParaRPr lang="en-US" dirty="0"/>
          </a:p>
          <a:p>
            <a:r>
              <a:rPr lang="en-US" dirty="0"/>
              <a:t>Classroom Assignment where questions are asked on a dataset to make students perform EDA</a:t>
            </a:r>
          </a:p>
        </p:txBody>
      </p:sp>
    </p:spTree>
    <p:extLst>
      <p:ext uri="{BB962C8B-B14F-4D97-AF65-F5344CB8AC3E}">
        <p14:creationId xmlns:p14="http://schemas.microsoft.com/office/powerpoint/2010/main" val="3031200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DB1D9A-8F08-2486-0BC9-3997CE31F9F1}"/>
              </a:ext>
            </a:extLst>
          </p:cNvPr>
          <p:cNvSpPr txBox="1"/>
          <p:nvPr/>
        </p:nvSpPr>
        <p:spPr>
          <a:xfrm>
            <a:off x="488319" y="181957"/>
            <a:ext cx="11412949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Exploratory Data Analysis</a:t>
            </a:r>
          </a:p>
          <a:p>
            <a:endParaRPr lang="en-US" sz="3600" dirty="0"/>
          </a:p>
          <a:p>
            <a:r>
              <a:rPr lang="en-US" sz="3600" dirty="0"/>
              <a:t>It’s the foundation for successful algorithm development. </a:t>
            </a:r>
          </a:p>
          <a:p>
            <a:endParaRPr lang="en-US" sz="3600" dirty="0"/>
          </a:p>
          <a:p>
            <a:r>
              <a:rPr lang="en-US" sz="3600" dirty="0"/>
              <a:t>Descriptive Analytics is a key component of EDA. </a:t>
            </a:r>
          </a:p>
          <a:p>
            <a:endParaRPr lang="en-US" sz="3600" dirty="0"/>
          </a:p>
          <a:p>
            <a:r>
              <a:rPr lang="en-US" sz="3600" dirty="0"/>
              <a:t>It includes Univariate and Multivariate graphical and non-graphical inferences/insights for business intelligence.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04716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FA World Cup | Memorable Moments, Football, Soccer, History, 2026,  Schedule, Winners, Awards, &amp; Facts | Britannica">
            <a:extLst>
              <a:ext uri="{FF2B5EF4-FFF2-40B4-BE49-F238E27FC236}">
                <a16:creationId xmlns:a16="http://schemas.microsoft.com/office/drawing/2014/main" id="{2002A6DD-19C2-CA4D-252F-57FA39B5B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672" y="326038"/>
            <a:ext cx="7176655" cy="620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580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696710-4E0D-E894-73C4-B7C29605D490}"/>
              </a:ext>
            </a:extLst>
          </p:cNvPr>
          <p:cNvSpPr txBox="1"/>
          <p:nvPr/>
        </p:nvSpPr>
        <p:spPr>
          <a:xfrm>
            <a:off x="238599" y="1304709"/>
            <a:ext cx="1171480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What is Pandas?</a:t>
            </a:r>
          </a:p>
          <a:p>
            <a:endParaRPr lang="en-US" sz="2800" dirty="0"/>
          </a:p>
          <a:p>
            <a:r>
              <a:rPr lang="en-US" sz="2800" dirty="0"/>
              <a:t>It is an open-source, Berkley Software Distribution (BSD) –licensed library that provides high performance, easy-to-use data structures and data analysis tools for the python programming language. </a:t>
            </a:r>
          </a:p>
          <a:p>
            <a:endParaRPr lang="en-US" sz="2800" dirty="0"/>
          </a:p>
          <a:p>
            <a:r>
              <a:rPr lang="en-US" sz="2800" dirty="0"/>
              <a:t>It is extremely useful for exploration and preparation. </a:t>
            </a:r>
          </a:p>
          <a:p>
            <a:endParaRPr lang="en-US" sz="2800" dirty="0"/>
          </a:p>
          <a:p>
            <a:r>
              <a:rPr lang="en-US" sz="2800" dirty="0"/>
              <a:t>We will be using ‘</a:t>
            </a:r>
            <a:r>
              <a:rPr lang="en-US" sz="2800" b="1" dirty="0"/>
              <a:t>Panda’s data-frames’ </a:t>
            </a:r>
            <a:r>
              <a:rPr lang="en-US" sz="2800" dirty="0"/>
              <a:t>extensively through this course. </a:t>
            </a:r>
          </a:p>
        </p:txBody>
      </p:sp>
    </p:spTree>
    <p:extLst>
      <p:ext uri="{BB962C8B-B14F-4D97-AF65-F5344CB8AC3E}">
        <p14:creationId xmlns:p14="http://schemas.microsoft.com/office/powerpoint/2010/main" val="2108855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625D6A-E24A-30DA-78E2-7091E8C09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340" y="422563"/>
            <a:ext cx="5369486" cy="601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951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590348-A1CF-00BA-D7F4-43455B21540E}"/>
              </a:ext>
            </a:extLst>
          </p:cNvPr>
          <p:cNvSpPr txBox="1"/>
          <p:nvPr/>
        </p:nvSpPr>
        <p:spPr>
          <a:xfrm>
            <a:off x="1122217" y="1443841"/>
            <a:ext cx="900545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Three parts of Exploratory Analysis:</a:t>
            </a:r>
          </a:p>
          <a:p>
            <a:endParaRPr lang="en-US" sz="3600" dirty="0"/>
          </a:p>
          <a:p>
            <a:pPr marL="342900" indent="-342900">
              <a:buAutoNum type="arabicPeriod"/>
            </a:pPr>
            <a:r>
              <a:rPr lang="en-US" sz="3600" dirty="0"/>
              <a:t>Working with Data frames</a:t>
            </a:r>
          </a:p>
          <a:p>
            <a:pPr marL="342900" indent="-342900">
              <a:buAutoNum type="arabicPeriod"/>
            </a:pPr>
            <a:endParaRPr lang="en-US" sz="3600" dirty="0"/>
          </a:p>
          <a:p>
            <a:pPr marL="342900" indent="-342900">
              <a:buAutoNum type="arabicPeriod"/>
            </a:pPr>
            <a:r>
              <a:rPr lang="en-US" sz="3600" dirty="0"/>
              <a:t>Handling Missing Values </a:t>
            </a:r>
          </a:p>
          <a:p>
            <a:pPr marL="342900" indent="-342900">
              <a:buAutoNum type="arabicPeriod"/>
            </a:pPr>
            <a:endParaRPr lang="en-US" sz="3600" dirty="0"/>
          </a:p>
          <a:p>
            <a:pPr marL="342900" indent="-342900">
              <a:buAutoNum type="arabicPeriod"/>
            </a:pPr>
            <a:r>
              <a:rPr lang="en-US" sz="3600" dirty="0"/>
              <a:t>Exploration using 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3642698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FB63EE-34B3-0A22-BB50-EA55D93EBE2C}"/>
              </a:ext>
            </a:extLst>
          </p:cNvPr>
          <p:cNvSpPr txBox="1"/>
          <p:nvPr/>
        </p:nvSpPr>
        <p:spPr>
          <a:xfrm>
            <a:off x="418606" y="993108"/>
            <a:ext cx="5146964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Working with Data frames: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Wingdings" pitchFamily="2" charset="2"/>
              <a:buChar char="ü"/>
            </a:pPr>
            <a:r>
              <a:rPr lang="en-US" sz="2000" dirty="0"/>
              <a:t>Loading a dataset into a Pandas data frame.               </a:t>
            </a:r>
          </a:p>
          <a:p>
            <a:pPr marL="457200" indent="-457200">
              <a:buFont typeface="Wingdings" pitchFamily="2" charset="2"/>
              <a:buChar char="ü"/>
            </a:pPr>
            <a:endParaRPr lang="en-US" sz="2000" dirty="0"/>
          </a:p>
          <a:p>
            <a:pPr marL="457200" indent="-457200">
              <a:buFont typeface="Wingdings" pitchFamily="2" charset="2"/>
              <a:buChar char="ü"/>
            </a:pPr>
            <a:r>
              <a:rPr lang="en-US" sz="2000" dirty="0"/>
              <a:t>Displaying the first few records of the data frame</a:t>
            </a:r>
          </a:p>
          <a:p>
            <a:pPr marL="457200" indent="-457200">
              <a:buFont typeface="Wingdings" pitchFamily="2" charset="2"/>
              <a:buChar char="ü"/>
            </a:pPr>
            <a:endParaRPr lang="en-US" sz="2000" dirty="0"/>
          </a:p>
          <a:p>
            <a:pPr marL="457200" indent="-457200">
              <a:buFont typeface="Wingdings" pitchFamily="2" charset="2"/>
              <a:buChar char="ü"/>
            </a:pPr>
            <a:r>
              <a:rPr lang="en-US" sz="2000" dirty="0"/>
              <a:t>Finding the summary of data frame</a:t>
            </a:r>
          </a:p>
          <a:p>
            <a:pPr marL="457200" indent="-457200">
              <a:buFont typeface="Wingdings" pitchFamily="2" charset="2"/>
              <a:buChar char="ü"/>
            </a:pPr>
            <a:endParaRPr lang="en-US" sz="2000" dirty="0"/>
          </a:p>
          <a:p>
            <a:pPr marL="457200" indent="-457200">
              <a:buFont typeface="Wingdings" pitchFamily="2" charset="2"/>
              <a:buChar char="ü"/>
            </a:pPr>
            <a:r>
              <a:rPr lang="en-US" sz="2000" dirty="0"/>
              <a:t>Slicing and Indexing of the data frame</a:t>
            </a:r>
          </a:p>
          <a:p>
            <a:pPr marL="457200" indent="-457200">
              <a:buFont typeface="Wingdings" pitchFamily="2" charset="2"/>
              <a:buChar char="ü"/>
            </a:pPr>
            <a:endParaRPr lang="en-US" sz="2000" dirty="0"/>
          </a:p>
          <a:p>
            <a:pPr marL="457200" indent="-457200">
              <a:buFont typeface="Wingdings" pitchFamily="2" charset="2"/>
              <a:buChar char="ü"/>
            </a:pPr>
            <a:r>
              <a:rPr lang="en-US" sz="2000" dirty="0"/>
              <a:t>Value Counts and Cross-tabulation</a:t>
            </a:r>
          </a:p>
          <a:p>
            <a:pPr marL="457200" indent="-457200">
              <a:buFont typeface="Wingdings" pitchFamily="2" charset="2"/>
              <a:buChar char="ü"/>
            </a:pPr>
            <a:endParaRPr lang="en-US" sz="2000" dirty="0"/>
          </a:p>
          <a:p>
            <a:pPr marL="457200" indent="-457200">
              <a:buFont typeface="Wingdings" pitchFamily="2" charset="2"/>
              <a:buChar char="ü"/>
            </a:pPr>
            <a:r>
              <a:rPr lang="en-US" sz="2000" dirty="0"/>
              <a:t>Sorting the Data frame by column values</a:t>
            </a:r>
          </a:p>
          <a:p>
            <a:pPr marL="342900" indent="-342900">
              <a:buAutoNum type="arabicPeriod"/>
            </a:pPr>
            <a:endParaRPr lang="en-US" sz="2000" dirty="0"/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AC6C5A-3621-2B7D-5A51-C50652EC3E9A}"/>
              </a:ext>
            </a:extLst>
          </p:cNvPr>
          <p:cNvSpPr txBox="1"/>
          <p:nvPr/>
        </p:nvSpPr>
        <p:spPr>
          <a:xfrm>
            <a:off x="5715000" y="1593273"/>
            <a:ext cx="605839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ü"/>
            </a:pPr>
            <a:r>
              <a:rPr lang="en-US" sz="2000" dirty="0"/>
              <a:t>Creating New Columns</a:t>
            </a:r>
          </a:p>
          <a:p>
            <a:pPr marL="457200" indent="-457200">
              <a:buFont typeface="Wingdings" pitchFamily="2" charset="2"/>
              <a:buChar char="ü"/>
            </a:pPr>
            <a:endParaRPr lang="en-US" sz="2000" dirty="0"/>
          </a:p>
          <a:p>
            <a:pPr marL="457200" indent="-457200">
              <a:buFont typeface="Wingdings" pitchFamily="2" charset="2"/>
              <a:buChar char="ü"/>
            </a:pPr>
            <a:r>
              <a:rPr lang="en-US" sz="2000" dirty="0"/>
              <a:t>Grouping and Aggregating</a:t>
            </a:r>
          </a:p>
          <a:p>
            <a:pPr marL="457200" indent="-457200">
              <a:buFont typeface="Wingdings" pitchFamily="2" charset="2"/>
              <a:buChar char="ü"/>
            </a:pPr>
            <a:endParaRPr lang="en-US" sz="2000" dirty="0"/>
          </a:p>
          <a:p>
            <a:pPr marL="457200" indent="-457200">
              <a:buFont typeface="Wingdings" pitchFamily="2" charset="2"/>
              <a:buChar char="ü"/>
            </a:pPr>
            <a:r>
              <a:rPr lang="en-US" sz="2000" dirty="0"/>
              <a:t>Joining Data frames</a:t>
            </a:r>
          </a:p>
          <a:p>
            <a:pPr marL="457200" indent="-457200">
              <a:buFont typeface="Wingdings" pitchFamily="2" charset="2"/>
              <a:buChar char="ü"/>
            </a:pPr>
            <a:endParaRPr lang="en-US" sz="2000" dirty="0"/>
          </a:p>
          <a:p>
            <a:pPr marL="457200" indent="-457200">
              <a:buFont typeface="Wingdings" pitchFamily="2" charset="2"/>
              <a:buChar char="ü"/>
            </a:pPr>
            <a:r>
              <a:rPr lang="en-US" sz="2000" dirty="0"/>
              <a:t>Re-naming Columns</a:t>
            </a:r>
          </a:p>
          <a:p>
            <a:pPr marL="457200" indent="-457200">
              <a:buFont typeface="Wingdings" pitchFamily="2" charset="2"/>
              <a:buChar char="ü"/>
            </a:pPr>
            <a:endParaRPr lang="en-US" sz="2000" dirty="0"/>
          </a:p>
          <a:p>
            <a:pPr marL="457200" indent="-457200">
              <a:buFont typeface="Wingdings" pitchFamily="2" charset="2"/>
              <a:buChar char="ü"/>
            </a:pPr>
            <a:r>
              <a:rPr lang="en-US" sz="2000" dirty="0"/>
              <a:t>Applying Operations to Multiple Columns</a:t>
            </a:r>
          </a:p>
          <a:p>
            <a:endParaRPr lang="en-US" sz="2000" dirty="0"/>
          </a:p>
          <a:p>
            <a:pPr marL="457200" indent="-457200">
              <a:buFont typeface="Wingdings" pitchFamily="2" charset="2"/>
              <a:buChar char="ü"/>
            </a:pPr>
            <a:r>
              <a:rPr lang="en-US" sz="2000" dirty="0"/>
              <a:t>Filtering Records Based on Conditions</a:t>
            </a:r>
          </a:p>
          <a:p>
            <a:pPr marL="457200" indent="-457200">
              <a:buFont typeface="Wingdings" pitchFamily="2" charset="2"/>
              <a:buChar char="ü"/>
            </a:pPr>
            <a:endParaRPr lang="en-US" sz="2000" dirty="0"/>
          </a:p>
          <a:p>
            <a:pPr marL="457200" indent="-457200">
              <a:buFont typeface="Wingdings" pitchFamily="2" charset="2"/>
              <a:buChar char="ü"/>
            </a:pPr>
            <a:r>
              <a:rPr lang="en-US" sz="2000" dirty="0"/>
              <a:t>Removing a column or row from a dataset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86766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223CC3-2EF8-C049-51F1-E8A141E6F1BF}"/>
              </a:ext>
            </a:extLst>
          </p:cNvPr>
          <p:cNvSpPr txBox="1"/>
          <p:nvPr/>
        </p:nvSpPr>
        <p:spPr>
          <a:xfrm>
            <a:off x="239151" y="928468"/>
            <a:ext cx="11690252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Case-let: Bidding for the next world cup 2030 media rights, is it worth while?</a:t>
            </a:r>
          </a:p>
          <a:p>
            <a:pPr algn="just" rtl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19 July 2026, Spain beat Argentina 1–0 in East Rutherford, New Jersey, and the largest World Cup ever played — 48 teams, 104 matches, three host countries — was over.</a:t>
            </a:r>
          </a:p>
          <a:p>
            <a:pPr algn="just"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work at a sports-marketing agency in Bengaluru. Your client is a broadcaster preparing its bid for Indian media rights to the next tournament cycle. </a:t>
            </a:r>
          </a:p>
          <a:p>
            <a:pPr algn="just"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bid team has one question that keeps coming back in meetings: </a:t>
            </a:r>
            <a:r>
              <a:rPr lang="en-IN" sz="2000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what actually holds an audience through a football match?</a:t>
            </a:r>
            <a:r>
              <a:rPr lang="en-IN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Advertising is sold by the minute, and nobody wants to pay premium rates for minutes when nothing happens.</a:t>
            </a:r>
          </a:p>
          <a:p>
            <a:pPr algn="just"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inbox this morning contains three CSV files, pulled from a public match-results archive: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match, every goal with the minute it was scored,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every penalty shoot-out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Nothing has been analysed. There is no dashboard, no report, no summary — the tournament ended five days ago.</a:t>
            </a:r>
          </a:p>
          <a:p>
            <a:pPr algn="just"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senior partner wants one page by Friday. Not a model. Not a forecast. One page of facts a bid team can defend at the board room.</a:t>
            </a:r>
          </a:p>
          <a:p>
            <a:pPr algn="just" rtl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first task is smaller than that.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you can write a single sentence, you have to find out what is actually in these files. </a:t>
            </a:r>
          </a:p>
        </p:txBody>
      </p:sp>
    </p:spTree>
    <p:extLst>
      <p:ext uri="{BB962C8B-B14F-4D97-AF65-F5344CB8AC3E}">
        <p14:creationId xmlns:p14="http://schemas.microsoft.com/office/powerpoint/2010/main" val="76130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91D9F6-9CE8-2AC0-1DDB-7CB123B3D709}"/>
              </a:ext>
            </a:extLst>
          </p:cNvPr>
          <p:cNvSpPr txBox="1"/>
          <p:nvPr/>
        </p:nvSpPr>
        <p:spPr>
          <a:xfrm>
            <a:off x="2022764" y="1953491"/>
            <a:ext cx="7121236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hlinkClick r:id="" action="ppaction://noaction"/>
            </a:endParaRPr>
          </a:p>
          <a:p>
            <a:endParaRPr lang="en-US" dirty="0">
              <a:hlinkClick r:id="" action="ppaction://noaction"/>
            </a:endParaRPr>
          </a:p>
          <a:p>
            <a:r>
              <a:rPr lang="en-US" dirty="0">
                <a:hlinkClick r:id="" action="ppaction://noaction"/>
              </a:rPr>
              <a:t>https://github.com/martj42/international_results/tree/master</a:t>
            </a:r>
          </a:p>
          <a:p>
            <a:endParaRPr lang="en-US" dirty="0">
              <a:hlinkClick r:id="" action="ppaction://noaction"/>
            </a:endParaRPr>
          </a:p>
          <a:p>
            <a:r>
              <a:rPr lang="en-US" dirty="0">
                <a:hlinkClick r:id="" action="ppaction://noaction"/>
              </a:rPr>
              <a:t>https://www.kaggle.com/code/doctornikhildj/eda-practice-xime-2026/edit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2"/>
              </a:rPr>
              <a:t>https://archive.ics.uci.edu/dataset/9/auto+mpg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D769D4-DBDC-A6FB-DFCB-9ED02F534371}"/>
              </a:ext>
            </a:extLst>
          </p:cNvPr>
          <p:cNvSpPr txBox="1"/>
          <p:nvPr/>
        </p:nvSpPr>
        <p:spPr>
          <a:xfrm>
            <a:off x="2022764" y="1191491"/>
            <a:ext cx="3827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Reference Datasets/Code/Cases</a:t>
            </a:r>
          </a:p>
        </p:txBody>
      </p:sp>
    </p:spTree>
    <p:extLst>
      <p:ext uri="{BB962C8B-B14F-4D97-AF65-F5344CB8AC3E}">
        <p14:creationId xmlns:p14="http://schemas.microsoft.com/office/powerpoint/2010/main" val="390738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43833D-0ECA-BB75-5A88-6D51C0D0F7D0}"/>
              </a:ext>
            </a:extLst>
          </p:cNvPr>
          <p:cNvSpPr txBox="1"/>
          <p:nvPr/>
        </p:nvSpPr>
        <p:spPr>
          <a:xfrm>
            <a:off x="595745" y="1117214"/>
            <a:ext cx="10964883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Lineage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Vital to understand how the data were generated and collected. Collectively, we call this information the lineage of the data.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Keeping tract of a dataset: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or what do the data represent? Are the data representative of the population we are interested in?</a:t>
            </a:r>
          </a:p>
          <a:p>
            <a:pPr marL="342900" indent="-342900"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are the data stored? Are we following privacy best practices?</a:t>
            </a:r>
          </a:p>
          <a:p>
            <a:pPr marL="342900" indent="-342900"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were the data collected? Has something fundamentally changed since the data were collected?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191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4996D4-53BA-06B9-CB00-69C1A50ED8C9}"/>
              </a:ext>
            </a:extLst>
          </p:cNvPr>
          <p:cNvSpPr txBox="1"/>
          <p:nvPr/>
        </p:nvSpPr>
        <p:spPr>
          <a:xfrm>
            <a:off x="522514" y="1079863"/>
            <a:ext cx="1189590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Data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if the data is missing in a systematic way or missing completely at random (MCAR)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MCAR , ignoring the rows will produce valid results.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All the people above a certain height failed to report their Body Mass Index (BMI)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2.Out of a class of 50, 40 reported their BMI and 10 did not.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614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99D315-1DD6-B53F-6447-77B000234898}"/>
              </a:ext>
            </a:extLst>
          </p:cNvPr>
          <p:cNvSpPr txBox="1"/>
          <p:nvPr/>
        </p:nvSpPr>
        <p:spPr>
          <a:xfrm>
            <a:off x="2671946" y="2594362"/>
            <a:ext cx="84928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using Dashboards on Databricks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9427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E08D20-8C64-DCC1-5AD1-CFE305EA55F2}"/>
              </a:ext>
            </a:extLst>
          </p:cNvPr>
          <p:cNvSpPr txBox="1"/>
          <p:nvPr/>
        </p:nvSpPr>
        <p:spPr>
          <a:xfrm>
            <a:off x="1027946" y="204930"/>
            <a:ext cx="101361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“Pricing in the Sparkle: A Diamond Marketplace”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D2AE30-C3C0-5B8C-A8FF-AEE504D87AAB}"/>
              </a:ext>
            </a:extLst>
          </p:cNvPr>
          <p:cNvSpPr txBox="1"/>
          <p:nvPr/>
        </p:nvSpPr>
        <p:spPr>
          <a:xfrm>
            <a:off x="1027946" y="1068975"/>
            <a:ext cx="10136108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have joined the analytics team of an online diamond marketplace – “United States Diamond Exchange (UDE)”. 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pricing team keeps arguing about what a diamond is really worth — some swear by the </a:t>
            </a:r>
            <a:r>
              <a:rPr lang="en-IN" sz="3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cut and clarity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others by </a:t>
            </a:r>
            <a:r>
              <a:rPr lang="en-IN" sz="3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the next pricing review, your manager hands you a sample of 260 diamonds and a clarity reference sheet, and asks for a quick, honest data snapshot: </a:t>
            </a:r>
            <a:r>
              <a:rPr lang="en-IN" sz="3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what drives price, and do the “obvious” rules of thumb actually hold?</a:t>
            </a:r>
            <a:endParaRPr lang="en-US" sz="32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6223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amond Color Scale">
            <a:extLst>
              <a:ext uri="{FF2B5EF4-FFF2-40B4-BE49-F238E27FC236}">
                <a16:creationId xmlns:a16="http://schemas.microsoft.com/office/drawing/2014/main" id="{597E821C-F6AE-9A59-9BA6-4605D3B7E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147" y="113631"/>
            <a:ext cx="4188824" cy="66307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14E299-2703-72EA-B79F-A662A3FC0928}"/>
              </a:ext>
            </a:extLst>
          </p:cNvPr>
          <p:cNvSpPr txBox="1"/>
          <p:nvPr/>
        </p:nvSpPr>
        <p:spPr>
          <a:xfrm>
            <a:off x="975361" y="2046514"/>
            <a:ext cx="271707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https://www.shireeodiz.com/blogs/articles/diamond-color-scale-10-essential-tips-before-buying?srsltid=AfmBOoq_J96TG_fDATr8r8nOwpVUZDauXJZlPVutpon9WA5ZvPwp4nQx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00625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514FFA57-CE6D-CB41-BA30-8C7C9253AE87}" vid="{F9263207-CF73-8F41-BDF4-24DE32BCBD7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1349</TotalTime>
  <Words>811</Words>
  <Application>Microsoft Macintosh PowerPoint</Application>
  <PresentationFormat>Widescreen</PresentationFormat>
  <Paragraphs>116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Times New Roman</vt:lpstr>
      <vt:lpstr>Wingdings</vt:lpstr>
      <vt:lpstr>Theme1</vt:lpstr>
      <vt:lpstr>Module 2: Exploring and Visualizing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Nikhil D Jonathan</dc:creator>
  <cp:lastModifiedBy>Nikhil D Jonathan</cp:lastModifiedBy>
  <cp:revision>8</cp:revision>
  <dcterms:created xsi:type="dcterms:W3CDTF">2026-07-23T00:45:11Z</dcterms:created>
  <dcterms:modified xsi:type="dcterms:W3CDTF">2026-08-06T09:58:52Z</dcterms:modified>
</cp:coreProperties>
</file>