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ij55sqTepGOR7ckLcWQrZYH2855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amstat.org/docs/default-source/amstat-documents/gaisecollege_full.pdf" TargetMode="Externa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f7369119fb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" name="Google Shape;46;g3f7369119f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7369119fb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7369119f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7369119fb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f7369119f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7369119fb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f7369119f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Reference: </a:t>
            </a:r>
            <a:r>
              <a:rPr lang="en-US" u="sng">
                <a:solidFill>
                  <a:schemeClr val="hlink"/>
                </a:solidFill>
                <a:hlinkClick r:id="rId2"/>
              </a:rPr>
              <a:t>https://www.amstat.org/docs/default-source/amstat-documents/gaisecollege_full.pdf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7369119fb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7369119fb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852bc11f0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f852bc11f0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87f471f9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f87f471f9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6084417" y="21771"/>
            <a:ext cx="6095996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4"/>
          <p:cNvPicPr preferRelativeResize="0"/>
          <p:nvPr/>
        </p:nvPicPr>
        <p:blipFill rotWithShape="1">
          <a:blip r:embed="rId4">
            <a:alphaModFix/>
          </a:blip>
          <a:srcRect b="0" l="0" r="28963" t="0"/>
          <a:stretch/>
        </p:blipFill>
        <p:spPr>
          <a:xfrm>
            <a:off x="1021760" y="3560411"/>
            <a:ext cx="1657623" cy="1164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4"/>
          <p:cNvPicPr preferRelativeResize="0"/>
          <p:nvPr/>
        </p:nvPicPr>
        <p:blipFill rotWithShape="1">
          <a:blip r:embed="rId5">
            <a:alphaModFix/>
          </a:blip>
          <a:srcRect b="0" l="2593" r="0" t="0"/>
          <a:stretch/>
        </p:blipFill>
        <p:spPr>
          <a:xfrm rot="5400000">
            <a:off x="140509" y="1120230"/>
            <a:ext cx="3505205" cy="12647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854302" y="5186815"/>
            <a:ext cx="2077619" cy="126474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 txBox="1"/>
          <p:nvPr>
            <p:ph type="ctrTitle"/>
          </p:nvPr>
        </p:nvSpPr>
        <p:spPr>
          <a:xfrm>
            <a:off x="3287486" y="1122363"/>
            <a:ext cx="8452569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3287486" y="3602038"/>
            <a:ext cx="8452569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4"/>
          <p:cNvSpPr/>
          <p:nvPr/>
        </p:nvSpPr>
        <p:spPr>
          <a:xfrm>
            <a:off x="0" y="0"/>
            <a:ext cx="130629" cy="345077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0" y="3429000"/>
            <a:ext cx="130629" cy="345077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2a7862fc4_33_0)">
  <p:cSld name="Generated (g3f2a7862fc4_33_0)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594464" y="60296"/>
            <a:ext cx="10001250" cy="1053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594464" y="1250731"/>
            <a:ext cx="10648950" cy="492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11669486" y="6492875"/>
            <a:ext cx="522514" cy="3651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594464" y="60296"/>
            <a:ext cx="10001250" cy="1053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1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594464" y="1250731"/>
            <a:ext cx="10648950" cy="492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" name="Google Shape;9;p3"/>
          <p:cNvPicPr preferRelativeResize="0"/>
          <p:nvPr/>
        </p:nvPicPr>
        <p:blipFill rotWithShape="1">
          <a:blip r:embed="rId1">
            <a:alphaModFix/>
          </a:blip>
          <a:srcRect b="0" l="0" r="28963" t="0"/>
          <a:stretch/>
        </p:blipFill>
        <p:spPr>
          <a:xfrm>
            <a:off x="10787744" y="-1"/>
            <a:ext cx="1273628" cy="8949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" name="Google Shape;10;p3"/>
          <p:cNvCxnSpPr/>
          <p:nvPr/>
        </p:nvCxnSpPr>
        <p:spPr>
          <a:xfrm>
            <a:off x="2205035" y="865039"/>
            <a:ext cx="2707781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1" name="Google Shape;11;p3"/>
          <p:cNvSpPr/>
          <p:nvPr/>
        </p:nvSpPr>
        <p:spPr>
          <a:xfrm>
            <a:off x="0" y="0"/>
            <a:ext cx="130629" cy="345077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3"/>
          <p:cNvSpPr/>
          <p:nvPr/>
        </p:nvSpPr>
        <p:spPr>
          <a:xfrm>
            <a:off x="0" y="3429000"/>
            <a:ext cx="130629" cy="345077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" name="Google Shape;13;p3"/>
          <p:cNvCxnSpPr/>
          <p:nvPr/>
        </p:nvCxnSpPr>
        <p:spPr>
          <a:xfrm>
            <a:off x="721812" y="865039"/>
            <a:ext cx="1483219" cy="0"/>
          </a:xfrm>
          <a:prstGeom prst="straightConnector1">
            <a:avLst/>
          </a:prstGeom>
          <a:noFill/>
          <a:ln cap="flat" cmpd="sng" w="38100">
            <a:solidFill>
              <a:srgbClr val="0C0C0C"/>
            </a:solidFill>
            <a:prstDash val="solid"/>
            <a:miter lim="80"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"/>
          <p:cNvSpPr txBox="1"/>
          <p:nvPr>
            <p:ph type="ctrTitle"/>
          </p:nvPr>
        </p:nvSpPr>
        <p:spPr>
          <a:xfrm>
            <a:off x="3287486" y="1122363"/>
            <a:ext cx="8452569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Module 4: Predicting Outcomes Regression </a:t>
            </a:r>
            <a:endParaRPr/>
          </a:p>
        </p:txBody>
      </p:sp>
      <p:sp>
        <p:nvSpPr>
          <p:cNvPr id="38" name="Google Shape;38;p1"/>
          <p:cNvSpPr txBox="1"/>
          <p:nvPr>
            <p:ph idx="1" type="subTitle"/>
          </p:nvPr>
        </p:nvSpPr>
        <p:spPr>
          <a:xfrm>
            <a:off x="3287486" y="3851563"/>
            <a:ext cx="8452569" cy="9074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Nikhil D Jonathan, July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 txBox="1"/>
          <p:nvPr/>
        </p:nvSpPr>
        <p:spPr>
          <a:xfrm>
            <a:off x="1194875" y="1468575"/>
            <a:ext cx="9595200" cy="42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latin typeface="Times New Roman"/>
                <a:ea typeface="Times New Roman"/>
                <a:cs typeface="Times New Roman"/>
                <a:sym typeface="Times New Roman"/>
              </a:rPr>
              <a:t>Topics to be covered</a:t>
            </a:r>
            <a:endParaRPr b="1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linear regression: fit a line, interpret the slope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Multiple regression: adding variables, checking assumptions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Residual diagnostics: what goes wrong and why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Logistic regression: when the outcome is yes/no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Reading and communicating regression output to non-analysts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Hands-on: build, test, and present a regression model end-to-end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f7369119fb_0_5"/>
          <p:cNvSpPr txBox="1"/>
          <p:nvPr/>
        </p:nvSpPr>
        <p:spPr>
          <a:xfrm>
            <a:off x="1764600" y="796775"/>
            <a:ext cx="866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Simple Linear Regression?</a:t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" name="Google Shape;49;g3f7369119fb_0_5"/>
          <p:cNvSpPr txBox="1"/>
          <p:nvPr/>
        </p:nvSpPr>
        <p:spPr>
          <a:xfrm>
            <a:off x="894100" y="1412375"/>
            <a:ext cx="110841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linear regression is a statistical tool used in business analytics to </a:t>
            </a:r>
            <a:r>
              <a:rPr b="1"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 or estimate </a:t>
            </a: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value of one continuous dependent outcome variable (y) based on a single independent predictor variable (x).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" name="Google Shape;50;g3f7369119fb_0_5"/>
          <p:cNvSpPr txBox="1"/>
          <p:nvPr/>
        </p:nvSpPr>
        <p:spPr>
          <a:xfrm>
            <a:off x="894100" y="2982275"/>
            <a:ext cx="11084100" cy="38187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Components of a simple linear regression model: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Equation: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 = mx + c (where y is the predicted target, x is the input factor, m is the slope, and c is the y-intercept).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Slope (m):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Shows the expected change in y for every single-unit increase in x.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Intercept (c):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baseline expected value of y when x equals zero.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R-Squared (R²):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Measures how well the independent variable explains the variation in the dependent variable (e.g., an R² of 0.81 means 81% of the variation is explained by the model).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f7369119fb_0_13"/>
          <p:cNvSpPr txBox="1"/>
          <p:nvPr/>
        </p:nvSpPr>
        <p:spPr>
          <a:xfrm>
            <a:off x="1194875" y="136875"/>
            <a:ext cx="9552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 of Simple Linear Regression in Business Analytics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g3f7369119fb_0_13"/>
          <p:cNvSpPr txBox="1"/>
          <p:nvPr/>
        </p:nvSpPr>
        <p:spPr>
          <a:xfrm>
            <a:off x="1298750" y="1672475"/>
            <a:ext cx="7837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g3f7369119fb_0_13"/>
          <p:cNvSpPr txBox="1"/>
          <p:nvPr/>
        </p:nvSpPr>
        <p:spPr>
          <a:xfrm>
            <a:off x="516000" y="952700"/>
            <a:ext cx="11375700" cy="6623400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Marketing &amp; Sales:</a:t>
            </a:r>
            <a:endParaRPr b="1" sz="18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Advertising and Revenue: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Predict total sales (Y) based on daily TV or digital marketing ad spend (X) to measure campaign ROI.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Price Elasticity: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Forecast unit demand or consumption drop (Y) relative to changes in a product's price point (X).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Human Resources and Finance</a:t>
            </a:r>
            <a:endParaRPr b="1" sz="18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Experience and Salary: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Estimate expected employee salary or job performance ratings (Y)using years of prior professional work experience (X).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Claims Cost Estimation: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Project expected property or auto insurance claim costs (Y) using the initial severity indicator or policyholder age (X)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Operations and Logistics</a:t>
            </a:r>
            <a:endParaRPr b="1" sz="18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Delivery Time and Distance: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Estimate total travel time or fuel consumption (Y) for delivery trucks based strictly on the number of miles driven (X).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Processing Time and Satisfaction: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Track how customer satisfaction scores (Y) fluctuate based on average service request processing time (X).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g3f7369119fb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7400" y="1240975"/>
            <a:ext cx="8458200" cy="476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7369119fb_0_22"/>
          <p:cNvSpPr txBox="1"/>
          <p:nvPr/>
        </p:nvSpPr>
        <p:spPr>
          <a:xfrm>
            <a:off x="563225" y="1367250"/>
            <a:ext cx="11628900" cy="38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"a result without interpretation is incomplete" </a:t>
            </a:r>
            <a:endParaRPr b="1" sz="6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Guidelines for Assessment and Instruction in Statistics Education (</a:t>
            </a:r>
            <a:r>
              <a:rPr i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GAISE) College Report, American Statistical Association (ASA) (2016)</a:t>
            </a:r>
            <a:endParaRPr i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g3f7369119fb_0_30"/>
          <p:cNvPicPr preferRelativeResize="0"/>
          <p:nvPr/>
        </p:nvPicPr>
        <p:blipFill rotWithShape="1">
          <a:blip r:embed="rId3">
            <a:alphaModFix amt="19000"/>
          </a:blip>
          <a:srcRect b="2370" l="0" r="0" t="-2370"/>
          <a:stretch/>
        </p:blipFill>
        <p:spPr>
          <a:xfrm>
            <a:off x="92950" y="0"/>
            <a:ext cx="119785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g3f7369119fb_0_30"/>
          <p:cNvSpPr txBox="1"/>
          <p:nvPr/>
        </p:nvSpPr>
        <p:spPr>
          <a:xfrm>
            <a:off x="822500" y="1256500"/>
            <a:ext cx="10640700" cy="48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Times New Roman"/>
                <a:ea typeface="Times New Roman"/>
                <a:cs typeface="Times New Roman"/>
                <a:sym typeface="Times New Roman"/>
              </a:rPr>
              <a:t>Case-let on regression:</a:t>
            </a:r>
            <a:endParaRPr b="1"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You are a business analyst on a agro-commodity trading desk at Kelloggs. 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Your P&amp;L depends on next season's US corn yield.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 Give me a number for 2027 — and tell me how much to trust it.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"Can a straight line predict next year's harvest?"</a:t>
            </a:r>
            <a:endParaRPr b="1" sz="4200"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852bc11f0_0_3"/>
          <p:cNvSpPr txBox="1"/>
          <p:nvPr/>
        </p:nvSpPr>
        <p:spPr>
          <a:xfrm>
            <a:off x="2924425" y="1181700"/>
            <a:ext cx="68880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555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     OLS Regression Results                            </a:t>
            </a:r>
            <a:endParaRPr sz="1000">
              <a:solidFill>
                <a:srgbClr val="55555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555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==============================================================================</a:t>
            </a:r>
            <a:endParaRPr sz="1000">
              <a:solidFill>
                <a:srgbClr val="55555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555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Dep. Variable:          Yield_bu_acre   R-squared:                       0.965</a:t>
            </a:r>
            <a:endParaRPr sz="1000">
              <a:solidFill>
                <a:srgbClr val="55555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555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Model:                            OLS   Adj. R-squared:                  0.965</a:t>
            </a:r>
            <a:endParaRPr sz="1000">
              <a:solidFill>
                <a:srgbClr val="55555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555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Method:                 Least Squares   F-statistic:                     2311.</a:t>
            </a:r>
            <a:endParaRPr sz="1000">
              <a:solidFill>
                <a:srgbClr val="55555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555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Date:                Mon, 24 Aug 2026   Prob (F-statistic):           6.79e-63</a:t>
            </a:r>
            <a:endParaRPr sz="1000">
              <a:solidFill>
                <a:srgbClr val="55555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555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Time:                        23:08:49   Log-Likelihood:                -310.36</a:t>
            </a:r>
            <a:endParaRPr sz="1000">
              <a:solidFill>
                <a:srgbClr val="55555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555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No. Observations:                  86   AIC:                             624.7</a:t>
            </a:r>
            <a:endParaRPr sz="1000">
              <a:solidFill>
                <a:srgbClr val="55555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555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Df Residuals:                      84   BIC:                             629.6</a:t>
            </a:r>
            <a:endParaRPr sz="1000">
              <a:solidFill>
                <a:srgbClr val="55555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555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Df Model:                           1                                         </a:t>
            </a:r>
            <a:endParaRPr sz="1000">
              <a:solidFill>
                <a:srgbClr val="55555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555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Covariance Type:            nonrobust                                         </a:t>
            </a:r>
            <a:endParaRPr sz="1000">
              <a:solidFill>
                <a:srgbClr val="55555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555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==============================================================================</a:t>
            </a:r>
            <a:endParaRPr sz="1000">
              <a:solidFill>
                <a:srgbClr val="55555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555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coef    std err          t      P&gt;|t|      [0.025      0.975]</a:t>
            </a:r>
            <a:endParaRPr sz="1000">
              <a:solidFill>
                <a:srgbClr val="55555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555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------------------------------------------------------------------------------</a:t>
            </a:r>
            <a:endParaRPr sz="1000">
              <a:solidFill>
                <a:srgbClr val="55555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555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const      -3640.2778     77.896    -46.733      0.000   -3795.182   -3485.374</a:t>
            </a:r>
            <a:endParaRPr sz="1000">
              <a:solidFill>
                <a:srgbClr val="55555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555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Year           1.8879      0.039     48.077      0.000       1.810       1.966</a:t>
            </a:r>
            <a:endParaRPr sz="1000">
              <a:solidFill>
                <a:srgbClr val="55555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555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==============================================================================</a:t>
            </a:r>
            <a:endParaRPr sz="1000">
              <a:solidFill>
                <a:srgbClr val="55555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555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Omnibus:                       25.394   Durbin-Watson:                   1.998</a:t>
            </a:r>
            <a:endParaRPr sz="1000">
              <a:solidFill>
                <a:srgbClr val="55555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555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Prob(Omnibus):                  0.000   Jarque-Bera (JB):               44.603</a:t>
            </a:r>
            <a:endParaRPr sz="1000">
              <a:solidFill>
                <a:srgbClr val="55555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555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Skew:                          -1.156   Prob(JB):                     2.06e-10</a:t>
            </a:r>
            <a:endParaRPr sz="1000">
              <a:solidFill>
                <a:srgbClr val="55555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555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Kurtosis:                       5.665   Cond. No.                     1.59e+05</a:t>
            </a:r>
            <a:endParaRPr sz="1000">
              <a:solidFill>
                <a:srgbClr val="55555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555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==============================================================================</a:t>
            </a:r>
            <a:endParaRPr sz="1000">
              <a:solidFill>
                <a:srgbClr val="55555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55555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555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Notes:</a:t>
            </a:r>
            <a:endParaRPr sz="1000">
              <a:solidFill>
                <a:srgbClr val="55555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555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[1] Standard Errors assume that the covariance matrix of the errors is correctly specified.</a:t>
            </a:r>
            <a:endParaRPr sz="1000">
              <a:solidFill>
                <a:srgbClr val="55555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555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[2] The condition number is large, 1.59e+05. This might indicate that there are</a:t>
            </a:r>
            <a:endParaRPr sz="1000">
              <a:solidFill>
                <a:srgbClr val="55555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555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strong multicollinearity or other numerical problems.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87f471f9c_0_0"/>
          <p:cNvSpPr txBox="1"/>
          <p:nvPr/>
        </p:nvSpPr>
        <p:spPr>
          <a:xfrm>
            <a:off x="440375" y="944500"/>
            <a:ext cx="11055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 prompt-engineering Exercise </a:t>
            </a:r>
            <a:endParaRPr b="1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g3f87f471f9c_0_0"/>
          <p:cNvSpPr txBox="1"/>
          <p:nvPr/>
        </p:nvSpPr>
        <p:spPr>
          <a:xfrm>
            <a:off x="568350" y="1789175"/>
            <a:ext cx="110553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are to do a business analytics project as a team of post graduate management students, we are interested in the following topics 1,2,3,4; Our project requires us to sharpen our skills in EDA, Linear Regression, Logistic Regression, Decision Tree and K-Means Clustering. We require a problem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statement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data available from reputable resources (such as the world bank, statista, google/yahoo finance, uci irvine repository, kaggle or simulated data), provide top 3 problem statement with links to datasets that we can work on.  Use the PMP guide on writing the problem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statement linked here : https://www.pmi.org/blog/how-to-write-a-problem-statement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craft the statement. 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eme1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2026-07-23T00:48:55Z</dcterms:created>
  <dc:creator>Nikhil D Jonathan</dc:creator>
</cp:coreProperties>
</file>